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3" r:id="rId26"/>
    <p:sldId id="280" r:id="rId27"/>
    <p:sldId id="281" r:id="rId28"/>
    <p:sldId id="282" r:id="rId29"/>
    <p:sldId id="284" r:id="rId30"/>
    <p:sldId id="285" r:id="rId31"/>
    <p:sldId id="286" r:id="rId32"/>
    <p:sldId id="287" r:id="rId33"/>
    <p:sldId id="291" r:id="rId34"/>
    <p:sldId id="292" r:id="rId35"/>
    <p:sldId id="288" r:id="rId36"/>
    <p:sldId id="290" r:id="rId37"/>
    <p:sldId id="289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2" r:id="rId47"/>
    <p:sldId id="301" r:id="rId48"/>
    <p:sldId id="310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2" r:id="rId57"/>
    <p:sldId id="313" r:id="rId58"/>
    <p:sldId id="314" r:id="rId59"/>
    <p:sldId id="315" r:id="rId60"/>
    <p:sldId id="316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79E945-05BA-4612-A931-84599B0F31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FAF536-C757-4A1C-8E60-5E279CBAEF0B}">
      <dgm:prSet phldrT="[Text]" phldr="0"/>
      <dgm:spPr/>
      <dgm:t>
        <a:bodyPr/>
        <a:lstStyle/>
        <a:p>
          <a:r>
            <a:rPr lang="en-US"/>
            <a:t>Sigmoid</a:t>
          </a:r>
          <a:endParaRPr lang="en-US" dirty="0"/>
        </a:p>
      </dgm:t>
    </dgm:pt>
    <dgm:pt modelId="{6D0BA747-6436-4DAB-94C1-A07D8780A6CB}" type="parTrans" cxnId="{3F90E7E3-F2CE-44C1-8655-938A91F5E739}">
      <dgm:prSet/>
      <dgm:spPr/>
      <dgm:t>
        <a:bodyPr/>
        <a:lstStyle/>
        <a:p>
          <a:endParaRPr lang="en-US"/>
        </a:p>
      </dgm:t>
    </dgm:pt>
    <dgm:pt modelId="{959F1E3F-AF0F-46A5-B319-DDAC5767522B}" type="sibTrans" cxnId="{3F90E7E3-F2CE-44C1-8655-938A91F5E739}">
      <dgm:prSet/>
      <dgm:spPr/>
      <dgm:t>
        <a:bodyPr/>
        <a:lstStyle/>
        <a:p>
          <a:endParaRPr lang="en-US"/>
        </a:p>
      </dgm:t>
    </dgm:pt>
    <dgm:pt modelId="{71FFF4FE-FC8F-4A5E-ABD8-1171708278DE}">
      <dgm:prSet phldrT="[Text]" phldr="0"/>
      <dgm:spPr/>
      <dgm:t>
        <a:bodyPr/>
        <a:lstStyle/>
        <a:p>
          <a:r>
            <a:rPr lang="en-US" dirty="0"/>
            <a:t>Tanh (Hyper </a:t>
          </a:r>
          <a:r>
            <a:rPr lang="en-US" dirty="0" err="1"/>
            <a:t>bolic</a:t>
          </a:r>
          <a:r>
            <a:rPr lang="en-US" dirty="0"/>
            <a:t> Tangent)</a:t>
          </a:r>
        </a:p>
      </dgm:t>
    </dgm:pt>
    <dgm:pt modelId="{0336C8DA-ECC3-4080-885F-0D65C79955FE}" type="parTrans" cxnId="{6962C637-1266-4A26-AD2E-DD8102BFB3A6}">
      <dgm:prSet/>
      <dgm:spPr/>
      <dgm:t>
        <a:bodyPr/>
        <a:lstStyle/>
        <a:p>
          <a:endParaRPr lang="en-US"/>
        </a:p>
      </dgm:t>
    </dgm:pt>
    <dgm:pt modelId="{0CB950AA-916C-41B6-B976-ED4A8261C604}" type="sibTrans" cxnId="{6962C637-1266-4A26-AD2E-DD8102BFB3A6}">
      <dgm:prSet/>
      <dgm:spPr/>
      <dgm:t>
        <a:bodyPr/>
        <a:lstStyle/>
        <a:p>
          <a:endParaRPr lang="en-US"/>
        </a:p>
      </dgm:t>
    </dgm:pt>
    <dgm:pt modelId="{F4A90904-2DA7-4DC0-A744-B1E442A7AD55}">
      <dgm:prSet phldrT="[Text]" phldr="0"/>
      <dgm:spPr/>
      <dgm:t>
        <a:bodyPr/>
        <a:lstStyle/>
        <a:p>
          <a:r>
            <a:rPr lang="en-US" dirty="0" err="1"/>
            <a:t>ReLU</a:t>
          </a:r>
          <a:r>
            <a:rPr lang="en-US" dirty="0"/>
            <a:t> (Rectified Linear Unit)</a:t>
          </a:r>
        </a:p>
      </dgm:t>
    </dgm:pt>
    <dgm:pt modelId="{474B0851-AB51-4DAA-8649-221793DC003E}" type="parTrans" cxnId="{11B4794A-A38B-4A94-B838-CDCCDED0A704}">
      <dgm:prSet/>
      <dgm:spPr/>
      <dgm:t>
        <a:bodyPr/>
        <a:lstStyle/>
        <a:p>
          <a:endParaRPr lang="en-US"/>
        </a:p>
      </dgm:t>
    </dgm:pt>
    <dgm:pt modelId="{BBD8DA5A-E32B-498B-BC88-27DE59AF1E53}" type="sibTrans" cxnId="{11B4794A-A38B-4A94-B838-CDCCDED0A704}">
      <dgm:prSet/>
      <dgm:spPr/>
      <dgm:t>
        <a:bodyPr/>
        <a:lstStyle/>
        <a:p>
          <a:endParaRPr lang="en-US"/>
        </a:p>
      </dgm:t>
    </dgm:pt>
    <dgm:pt modelId="{ABCD5748-F2E9-4A45-801E-3C73E245539F}" type="pres">
      <dgm:prSet presAssocID="{1379E945-05BA-4612-A931-84599B0F314D}" presName="linear" presStyleCnt="0">
        <dgm:presLayoutVars>
          <dgm:dir/>
          <dgm:animLvl val="lvl"/>
          <dgm:resizeHandles val="exact"/>
        </dgm:presLayoutVars>
      </dgm:prSet>
      <dgm:spPr/>
    </dgm:pt>
    <dgm:pt modelId="{87BD99A3-4226-4D09-A893-26DA0DC56074}" type="pres">
      <dgm:prSet presAssocID="{9FFAF536-C757-4A1C-8E60-5E279CBAEF0B}" presName="parentLin" presStyleCnt="0"/>
      <dgm:spPr/>
    </dgm:pt>
    <dgm:pt modelId="{E1EE090E-AE1B-4D96-8626-37CDCADE3595}" type="pres">
      <dgm:prSet presAssocID="{9FFAF536-C757-4A1C-8E60-5E279CBAEF0B}" presName="parentLeftMargin" presStyleLbl="node1" presStyleIdx="0" presStyleCnt="3"/>
      <dgm:spPr/>
    </dgm:pt>
    <dgm:pt modelId="{538006F7-62EE-4CD9-9EF5-F5AAB6723AFB}" type="pres">
      <dgm:prSet presAssocID="{9FFAF536-C757-4A1C-8E60-5E279CBAEF0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AF4C9BF-730E-40B7-B978-2F1FE58D9850}" type="pres">
      <dgm:prSet presAssocID="{9FFAF536-C757-4A1C-8E60-5E279CBAEF0B}" presName="negativeSpace" presStyleCnt="0"/>
      <dgm:spPr/>
    </dgm:pt>
    <dgm:pt modelId="{10118840-5ACE-472D-885B-BA740A37BF2F}" type="pres">
      <dgm:prSet presAssocID="{9FFAF536-C757-4A1C-8E60-5E279CBAEF0B}" presName="childText" presStyleLbl="conFgAcc1" presStyleIdx="0" presStyleCnt="3">
        <dgm:presLayoutVars>
          <dgm:bulletEnabled val="1"/>
        </dgm:presLayoutVars>
      </dgm:prSet>
      <dgm:spPr/>
    </dgm:pt>
    <dgm:pt modelId="{A09C1328-03F7-4A3F-8894-A830DF4AC29E}" type="pres">
      <dgm:prSet presAssocID="{959F1E3F-AF0F-46A5-B319-DDAC5767522B}" presName="spaceBetweenRectangles" presStyleCnt="0"/>
      <dgm:spPr/>
    </dgm:pt>
    <dgm:pt modelId="{41FCF457-6B91-44FA-AED7-20FD10916163}" type="pres">
      <dgm:prSet presAssocID="{71FFF4FE-FC8F-4A5E-ABD8-1171708278DE}" presName="parentLin" presStyleCnt="0"/>
      <dgm:spPr/>
    </dgm:pt>
    <dgm:pt modelId="{9CCD166A-4D00-4754-926C-920A5836CF6F}" type="pres">
      <dgm:prSet presAssocID="{71FFF4FE-FC8F-4A5E-ABD8-1171708278DE}" presName="parentLeftMargin" presStyleLbl="node1" presStyleIdx="0" presStyleCnt="3"/>
      <dgm:spPr/>
    </dgm:pt>
    <dgm:pt modelId="{38FE2CD8-8D01-4DC0-883A-9ACF986296B1}" type="pres">
      <dgm:prSet presAssocID="{71FFF4FE-FC8F-4A5E-ABD8-1171708278D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F82B4B0-BB64-4178-B39B-ED380D78910B}" type="pres">
      <dgm:prSet presAssocID="{71FFF4FE-FC8F-4A5E-ABD8-1171708278DE}" presName="negativeSpace" presStyleCnt="0"/>
      <dgm:spPr/>
    </dgm:pt>
    <dgm:pt modelId="{322ED661-2A9E-4140-B432-783036B90AA5}" type="pres">
      <dgm:prSet presAssocID="{71FFF4FE-FC8F-4A5E-ABD8-1171708278DE}" presName="childText" presStyleLbl="conFgAcc1" presStyleIdx="1" presStyleCnt="3">
        <dgm:presLayoutVars>
          <dgm:bulletEnabled val="1"/>
        </dgm:presLayoutVars>
      </dgm:prSet>
      <dgm:spPr/>
    </dgm:pt>
    <dgm:pt modelId="{8EC6345E-4422-4439-B9C6-0A344B65192D}" type="pres">
      <dgm:prSet presAssocID="{0CB950AA-916C-41B6-B976-ED4A8261C604}" presName="spaceBetweenRectangles" presStyleCnt="0"/>
      <dgm:spPr/>
    </dgm:pt>
    <dgm:pt modelId="{A7871DC1-F4BA-40D1-B4BE-5F37A9D9F1F0}" type="pres">
      <dgm:prSet presAssocID="{F4A90904-2DA7-4DC0-A744-B1E442A7AD55}" presName="parentLin" presStyleCnt="0"/>
      <dgm:spPr/>
    </dgm:pt>
    <dgm:pt modelId="{E72B1A8C-8EEB-417A-B34A-42C4C14C0798}" type="pres">
      <dgm:prSet presAssocID="{F4A90904-2DA7-4DC0-A744-B1E442A7AD55}" presName="parentLeftMargin" presStyleLbl="node1" presStyleIdx="1" presStyleCnt="3"/>
      <dgm:spPr/>
    </dgm:pt>
    <dgm:pt modelId="{36BE70FD-DC50-4AE1-B7F3-7F7FE45EF7A5}" type="pres">
      <dgm:prSet presAssocID="{F4A90904-2DA7-4DC0-A744-B1E442A7AD5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D042CDE-04DB-427E-ADBB-942E3C39AC59}" type="pres">
      <dgm:prSet presAssocID="{F4A90904-2DA7-4DC0-A744-B1E442A7AD55}" presName="negativeSpace" presStyleCnt="0"/>
      <dgm:spPr/>
    </dgm:pt>
    <dgm:pt modelId="{87286AB9-8660-486B-8D04-8814E9D8E109}" type="pres">
      <dgm:prSet presAssocID="{F4A90904-2DA7-4DC0-A744-B1E442A7AD5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10C8E05-42D6-4DC4-88C0-497825E4443F}" type="presOf" srcId="{1379E945-05BA-4612-A931-84599B0F314D}" destId="{ABCD5748-F2E9-4A45-801E-3C73E245539F}" srcOrd="0" destOrd="0" presId="urn:microsoft.com/office/officeart/2005/8/layout/list1"/>
    <dgm:cxn modelId="{A19D8718-8FA4-4B12-AA3A-3B33506F9D53}" type="presOf" srcId="{9FFAF536-C757-4A1C-8E60-5E279CBAEF0B}" destId="{E1EE090E-AE1B-4D96-8626-37CDCADE3595}" srcOrd="0" destOrd="0" presId="urn:microsoft.com/office/officeart/2005/8/layout/list1"/>
    <dgm:cxn modelId="{6962C637-1266-4A26-AD2E-DD8102BFB3A6}" srcId="{1379E945-05BA-4612-A931-84599B0F314D}" destId="{71FFF4FE-FC8F-4A5E-ABD8-1171708278DE}" srcOrd="1" destOrd="0" parTransId="{0336C8DA-ECC3-4080-885F-0D65C79955FE}" sibTransId="{0CB950AA-916C-41B6-B976-ED4A8261C604}"/>
    <dgm:cxn modelId="{11B4794A-A38B-4A94-B838-CDCCDED0A704}" srcId="{1379E945-05BA-4612-A931-84599B0F314D}" destId="{F4A90904-2DA7-4DC0-A744-B1E442A7AD55}" srcOrd="2" destOrd="0" parTransId="{474B0851-AB51-4DAA-8649-221793DC003E}" sibTransId="{BBD8DA5A-E32B-498B-BC88-27DE59AF1E53}"/>
    <dgm:cxn modelId="{B0B1C56E-260C-46B9-8E35-0ED740A39662}" type="presOf" srcId="{9FFAF536-C757-4A1C-8E60-5E279CBAEF0B}" destId="{538006F7-62EE-4CD9-9EF5-F5AAB6723AFB}" srcOrd="1" destOrd="0" presId="urn:microsoft.com/office/officeart/2005/8/layout/list1"/>
    <dgm:cxn modelId="{C0BCC580-5294-4052-9FE0-0309812FA0B6}" type="presOf" srcId="{F4A90904-2DA7-4DC0-A744-B1E442A7AD55}" destId="{36BE70FD-DC50-4AE1-B7F3-7F7FE45EF7A5}" srcOrd="1" destOrd="0" presId="urn:microsoft.com/office/officeart/2005/8/layout/list1"/>
    <dgm:cxn modelId="{A83B3B86-6491-4D3F-95B2-0CE9936AAE3F}" type="presOf" srcId="{71FFF4FE-FC8F-4A5E-ABD8-1171708278DE}" destId="{9CCD166A-4D00-4754-926C-920A5836CF6F}" srcOrd="0" destOrd="0" presId="urn:microsoft.com/office/officeart/2005/8/layout/list1"/>
    <dgm:cxn modelId="{D0F77C8D-3EB2-445F-BC0A-9CDF5CB81485}" type="presOf" srcId="{F4A90904-2DA7-4DC0-A744-B1E442A7AD55}" destId="{E72B1A8C-8EEB-417A-B34A-42C4C14C0798}" srcOrd="0" destOrd="0" presId="urn:microsoft.com/office/officeart/2005/8/layout/list1"/>
    <dgm:cxn modelId="{827549B5-5E65-4D51-80E4-9E3C4C801D1C}" type="presOf" srcId="{71FFF4FE-FC8F-4A5E-ABD8-1171708278DE}" destId="{38FE2CD8-8D01-4DC0-883A-9ACF986296B1}" srcOrd="1" destOrd="0" presId="urn:microsoft.com/office/officeart/2005/8/layout/list1"/>
    <dgm:cxn modelId="{3F90E7E3-F2CE-44C1-8655-938A91F5E739}" srcId="{1379E945-05BA-4612-A931-84599B0F314D}" destId="{9FFAF536-C757-4A1C-8E60-5E279CBAEF0B}" srcOrd="0" destOrd="0" parTransId="{6D0BA747-6436-4DAB-94C1-A07D8780A6CB}" sibTransId="{959F1E3F-AF0F-46A5-B319-DDAC5767522B}"/>
    <dgm:cxn modelId="{825D6A38-D594-4D25-9142-F14529AD2C7D}" type="presParOf" srcId="{ABCD5748-F2E9-4A45-801E-3C73E245539F}" destId="{87BD99A3-4226-4D09-A893-26DA0DC56074}" srcOrd="0" destOrd="0" presId="urn:microsoft.com/office/officeart/2005/8/layout/list1"/>
    <dgm:cxn modelId="{40C9C590-8242-41CD-BFC8-848323FE8352}" type="presParOf" srcId="{87BD99A3-4226-4D09-A893-26DA0DC56074}" destId="{E1EE090E-AE1B-4D96-8626-37CDCADE3595}" srcOrd="0" destOrd="0" presId="urn:microsoft.com/office/officeart/2005/8/layout/list1"/>
    <dgm:cxn modelId="{C92E1915-1274-4E56-9825-DFAC10C7610A}" type="presParOf" srcId="{87BD99A3-4226-4D09-A893-26DA0DC56074}" destId="{538006F7-62EE-4CD9-9EF5-F5AAB6723AFB}" srcOrd="1" destOrd="0" presId="urn:microsoft.com/office/officeart/2005/8/layout/list1"/>
    <dgm:cxn modelId="{325F009A-B1B9-4B29-94A2-2162AC97B3F6}" type="presParOf" srcId="{ABCD5748-F2E9-4A45-801E-3C73E245539F}" destId="{BAF4C9BF-730E-40B7-B978-2F1FE58D9850}" srcOrd="1" destOrd="0" presId="urn:microsoft.com/office/officeart/2005/8/layout/list1"/>
    <dgm:cxn modelId="{43E129A1-13DC-48FE-9A8C-9666A53499CF}" type="presParOf" srcId="{ABCD5748-F2E9-4A45-801E-3C73E245539F}" destId="{10118840-5ACE-472D-885B-BA740A37BF2F}" srcOrd="2" destOrd="0" presId="urn:microsoft.com/office/officeart/2005/8/layout/list1"/>
    <dgm:cxn modelId="{ED4056F3-A050-4CC5-AB44-7E30819B4C1F}" type="presParOf" srcId="{ABCD5748-F2E9-4A45-801E-3C73E245539F}" destId="{A09C1328-03F7-4A3F-8894-A830DF4AC29E}" srcOrd="3" destOrd="0" presId="urn:microsoft.com/office/officeart/2005/8/layout/list1"/>
    <dgm:cxn modelId="{3FD20A12-B1D6-440B-904C-ED1105583100}" type="presParOf" srcId="{ABCD5748-F2E9-4A45-801E-3C73E245539F}" destId="{41FCF457-6B91-44FA-AED7-20FD10916163}" srcOrd="4" destOrd="0" presId="urn:microsoft.com/office/officeart/2005/8/layout/list1"/>
    <dgm:cxn modelId="{58B39CCE-0D4E-42B6-951B-0342A7750F08}" type="presParOf" srcId="{41FCF457-6B91-44FA-AED7-20FD10916163}" destId="{9CCD166A-4D00-4754-926C-920A5836CF6F}" srcOrd="0" destOrd="0" presId="urn:microsoft.com/office/officeart/2005/8/layout/list1"/>
    <dgm:cxn modelId="{989F51BA-3FE7-4DC3-9A06-ED233E494CEB}" type="presParOf" srcId="{41FCF457-6B91-44FA-AED7-20FD10916163}" destId="{38FE2CD8-8D01-4DC0-883A-9ACF986296B1}" srcOrd="1" destOrd="0" presId="urn:microsoft.com/office/officeart/2005/8/layout/list1"/>
    <dgm:cxn modelId="{56D461C5-3DE9-42D9-A97F-05E0245FF882}" type="presParOf" srcId="{ABCD5748-F2E9-4A45-801E-3C73E245539F}" destId="{BF82B4B0-BB64-4178-B39B-ED380D78910B}" srcOrd="5" destOrd="0" presId="urn:microsoft.com/office/officeart/2005/8/layout/list1"/>
    <dgm:cxn modelId="{DB47EC31-85E0-4E2F-86FD-5211541A50D4}" type="presParOf" srcId="{ABCD5748-F2E9-4A45-801E-3C73E245539F}" destId="{322ED661-2A9E-4140-B432-783036B90AA5}" srcOrd="6" destOrd="0" presId="urn:microsoft.com/office/officeart/2005/8/layout/list1"/>
    <dgm:cxn modelId="{8A74363B-E748-4C62-9450-81D223DD604C}" type="presParOf" srcId="{ABCD5748-F2E9-4A45-801E-3C73E245539F}" destId="{8EC6345E-4422-4439-B9C6-0A344B65192D}" srcOrd="7" destOrd="0" presId="urn:microsoft.com/office/officeart/2005/8/layout/list1"/>
    <dgm:cxn modelId="{E20D031A-6BFE-418F-BA5E-39EF509A7E52}" type="presParOf" srcId="{ABCD5748-F2E9-4A45-801E-3C73E245539F}" destId="{A7871DC1-F4BA-40D1-B4BE-5F37A9D9F1F0}" srcOrd="8" destOrd="0" presId="urn:microsoft.com/office/officeart/2005/8/layout/list1"/>
    <dgm:cxn modelId="{7B155D0D-8E79-452A-BC63-86C866F8CE7B}" type="presParOf" srcId="{A7871DC1-F4BA-40D1-B4BE-5F37A9D9F1F0}" destId="{E72B1A8C-8EEB-417A-B34A-42C4C14C0798}" srcOrd="0" destOrd="0" presId="urn:microsoft.com/office/officeart/2005/8/layout/list1"/>
    <dgm:cxn modelId="{0C7C4C16-4258-46D1-9860-4C3246C35ADB}" type="presParOf" srcId="{A7871DC1-F4BA-40D1-B4BE-5F37A9D9F1F0}" destId="{36BE70FD-DC50-4AE1-B7F3-7F7FE45EF7A5}" srcOrd="1" destOrd="0" presId="urn:microsoft.com/office/officeart/2005/8/layout/list1"/>
    <dgm:cxn modelId="{837D4B15-C866-40E3-83BA-D2F81623F670}" type="presParOf" srcId="{ABCD5748-F2E9-4A45-801E-3C73E245539F}" destId="{2D042CDE-04DB-427E-ADBB-942E3C39AC59}" srcOrd="9" destOrd="0" presId="urn:microsoft.com/office/officeart/2005/8/layout/list1"/>
    <dgm:cxn modelId="{5E21D546-2E44-4B6D-B0AC-9829CB4E629B}" type="presParOf" srcId="{ABCD5748-F2E9-4A45-801E-3C73E245539F}" destId="{87286AB9-8660-486B-8D04-8814E9D8E10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18840-5ACE-472D-885B-BA740A37BF2F}">
      <dsp:nvSpPr>
        <dsp:cNvPr id="0" name=""/>
        <dsp:cNvSpPr/>
      </dsp:nvSpPr>
      <dsp:spPr>
        <a:xfrm>
          <a:off x="0" y="47389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006F7-62EE-4CD9-9EF5-F5AAB6723AFB}">
      <dsp:nvSpPr>
        <dsp:cNvPr id="0" name=""/>
        <dsp:cNvSpPr/>
      </dsp:nvSpPr>
      <dsp:spPr>
        <a:xfrm>
          <a:off x="429815" y="4585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Sigmoid</a:t>
          </a:r>
          <a:endParaRPr lang="en-US" sz="2900" kern="1200" dirty="0"/>
        </a:p>
      </dsp:txBody>
      <dsp:txXfrm>
        <a:off x="471605" y="87648"/>
        <a:ext cx="5933838" cy="772500"/>
      </dsp:txXfrm>
    </dsp:sp>
    <dsp:sp modelId="{322ED661-2A9E-4140-B432-783036B90AA5}">
      <dsp:nvSpPr>
        <dsp:cNvPr id="0" name=""/>
        <dsp:cNvSpPr/>
      </dsp:nvSpPr>
      <dsp:spPr>
        <a:xfrm>
          <a:off x="0" y="178933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E2CD8-8D01-4DC0-883A-9ACF986296B1}">
      <dsp:nvSpPr>
        <dsp:cNvPr id="0" name=""/>
        <dsp:cNvSpPr/>
      </dsp:nvSpPr>
      <dsp:spPr>
        <a:xfrm>
          <a:off x="429815" y="136129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Tanh (Hyper </a:t>
          </a:r>
          <a:r>
            <a:rPr lang="en-US" sz="2900" kern="1200" dirty="0" err="1"/>
            <a:t>bolic</a:t>
          </a:r>
          <a:r>
            <a:rPr lang="en-US" sz="2900" kern="1200" dirty="0"/>
            <a:t> Tangent)</a:t>
          </a:r>
        </a:p>
      </dsp:txBody>
      <dsp:txXfrm>
        <a:off x="471605" y="1403088"/>
        <a:ext cx="5933838" cy="772500"/>
      </dsp:txXfrm>
    </dsp:sp>
    <dsp:sp modelId="{87286AB9-8660-486B-8D04-8814E9D8E109}">
      <dsp:nvSpPr>
        <dsp:cNvPr id="0" name=""/>
        <dsp:cNvSpPr/>
      </dsp:nvSpPr>
      <dsp:spPr>
        <a:xfrm>
          <a:off x="0" y="310477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BE70FD-DC50-4AE1-B7F3-7F7FE45EF7A5}">
      <dsp:nvSpPr>
        <dsp:cNvPr id="0" name=""/>
        <dsp:cNvSpPr/>
      </dsp:nvSpPr>
      <dsp:spPr>
        <a:xfrm>
          <a:off x="429815" y="267673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ReLU</a:t>
          </a:r>
          <a:r>
            <a:rPr lang="en-US" sz="2900" kern="1200" dirty="0"/>
            <a:t> (Rectified Linear Unit)</a:t>
          </a:r>
        </a:p>
      </dsp:txBody>
      <dsp:txXfrm>
        <a:off x="471605" y="2718528"/>
        <a:ext cx="5933838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5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0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02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4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39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7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98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8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7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0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570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11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879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81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28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5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67AFB-E8F0-4146-902F-6EBBED2B273E}" type="datetimeFigureOut">
              <a:rPr lang="en-US" smtClean="0"/>
              <a:t>16/11/2025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76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62B7-B0F2-69A3-E9AA-A7FC599C4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197705"/>
            <a:ext cx="7766936" cy="1646302"/>
          </a:xfrm>
        </p:spPr>
        <p:txBody>
          <a:bodyPr/>
          <a:lstStyle/>
          <a:p>
            <a:pPr algn="ctr"/>
            <a:r>
              <a:rPr lang="en-US" dirty="0"/>
              <a:t>Advanced ML Model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98F1F-591A-BE9F-2B47-08525339F2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khaled Almir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Natasha Alkhatib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Position: AI Red team intern at VersifAI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08CC2-FAEB-7760-8A84-1F402B8F6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660" y="0"/>
            <a:ext cx="2344511" cy="234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55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4992-FCDA-DFF1-9DA0-FECED066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A1E4F-AA12-105C-83E6-93CD441CF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are a family of model architectures designed to find nonlinear patterns in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training of a neural network, the mode automatically learns the optimal feature crosses to perform on the input data to minimize loss.</a:t>
            </a:r>
          </a:p>
          <a:p>
            <a:r>
              <a:rPr lang="en-US" sz="2000" dirty="0"/>
              <a:t>Neural networks simplify nonlinear problem-solving.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13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E6DC-A1AD-FD2F-00EF-02A3C80E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Nodes and hidden layers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BF609C-338E-0B9E-813C-F7DC27D53B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Adding Hidden Layers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Hidden layers: layers between input and output layers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Neurons: nodes in hidden layers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neuron behaves like a mini linear model: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LB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ar-LB" sz="18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ar-LB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LB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LB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1800" dirty="0">
                  <a:latin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ar-L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BF609C-338E-0B9E-813C-F7DC27D53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" t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747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B2BE-C610-69C6-F3F7-88188174F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Neuron operation: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66CFC-D793-3A82-2D35-C5954EAFF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inputs from the previous layer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Multiplies each input by a weight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a bias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Produces an output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 uses hidden neuron outputs as its inputs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Effect: allows the network to learn nonlinear relationships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88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6E2A2-F16D-4240-AF6E-A1D06EFE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Neural Network Structure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6F63B6-8A63-ADAB-E3F8-AF93AE27E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30" y="2160588"/>
            <a:ext cx="6928777" cy="3881437"/>
          </a:xfrm>
        </p:spPr>
      </p:pic>
    </p:spTree>
    <p:extLst>
      <p:ext uri="{BB962C8B-B14F-4D97-AF65-F5344CB8AC3E}">
        <p14:creationId xmlns:p14="http://schemas.microsoft.com/office/powerpoint/2010/main" val="3684340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BF09E-E317-D54C-A26A-53229DF8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Activation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44B7C-8A15-9823-7F98-3C13E9AF0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operations on linear outputs are still linear</a:t>
            </a:r>
          </a:p>
          <a:p>
            <a:r>
              <a:rPr lang="en-US" dirty="0"/>
              <a:t>Need </a:t>
            </a:r>
            <a:r>
              <a:rPr lang="en-US" b="1" dirty="0"/>
              <a:t>nonlinear mathematical operations</a:t>
            </a:r>
            <a:r>
              <a:rPr lang="en-US" dirty="0"/>
              <a:t> to model complex relationships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655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0077-CB97-C9CB-AE4B-4ACAB409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Activation Functions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64BD6A-DDDA-7D55-A677-AF46680EE1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51866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7416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09DC0-51FF-2305-D228-A32732640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0E01D-AFAA-A090-6B52-D844E4061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f(x)=1/(1+e^-x)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range: 0 → 1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S-shaped curve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values into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Smooth, nonlinear transform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output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binary classification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139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613C-F97D-486F-D187-FD1F42363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E70383-4670-1C2F-7089-7467D4B84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575" y="2180333"/>
            <a:ext cx="7556888" cy="3841947"/>
          </a:xfrm>
        </p:spPr>
      </p:pic>
    </p:spTree>
    <p:extLst>
      <p:ext uri="{BB962C8B-B14F-4D97-AF65-F5344CB8AC3E}">
        <p14:creationId xmlns:p14="http://schemas.microsoft.com/office/powerpoint/2010/main" val="3724067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97C0-89C6-4FA9-35D5-3C7539018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Tanh Function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7A1E2-B792-B901-882A-92A34B5E5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f(x)=tanh(x)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range: –1 → 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S-shaped curve, centered at 0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gradients than sigmoid for negative inputs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hidden layers to allow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centered outputs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916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79D6-6D3C-AE2F-9A85-65467F1D9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Tanh Function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85DCAB-5CF1-07D7-2FD6-DBF5F4D2B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20" y="2180333"/>
            <a:ext cx="7747398" cy="3841947"/>
          </a:xfrm>
        </p:spPr>
      </p:pic>
    </p:spTree>
    <p:extLst>
      <p:ext uri="{BB962C8B-B14F-4D97-AF65-F5344CB8AC3E}">
        <p14:creationId xmlns:p14="http://schemas.microsoft.com/office/powerpoint/2010/main" val="3296534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AA68-086D-0A78-B012-D0B81B94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ReLU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97A89-AC6A-D7AC-73EE-9A4D165A4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f(x)=max(0,x)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range: 0 → ∞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fast to compute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prone to vanishing gradient problem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in deep networks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most hidden layers in modern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21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5AB3E-B508-13BF-DF4F-7548F699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ReLU</a:t>
            </a:r>
            <a:r>
              <a:rPr lang="en-US" dirty="0"/>
              <a:t>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C6B1C0-B48C-768E-D59E-5B8B05E4D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26" y="2180333"/>
            <a:ext cx="7518786" cy="3841947"/>
          </a:xfrm>
        </p:spPr>
      </p:pic>
    </p:spTree>
    <p:extLst>
      <p:ext uri="{BB962C8B-B14F-4D97-AF65-F5344CB8AC3E}">
        <p14:creationId xmlns:p14="http://schemas.microsoft.com/office/powerpoint/2010/main" val="3951683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230D-91C4-0C1B-13FA-2618C48B7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using backpropagation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EF685-4301-781C-57BD-B19EC407B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training algorithm for neural networks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gradient descent for multi-layer networks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Adjusts weights and biases to improve predictions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232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9429-82D6-1647-99BE-6A15CD620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23257"/>
          </a:xfrm>
        </p:spPr>
        <p:txBody>
          <a:bodyPr/>
          <a:lstStyle/>
          <a:p>
            <a:r>
              <a:rPr lang="en-US" dirty="0"/>
              <a:t>How Backpropagation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E4C92-9C11-F7D9-05A7-2586D8246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7029"/>
            <a:ext cx="8596668" cy="4234333"/>
          </a:xfrm>
        </p:spPr>
        <p:txBody>
          <a:bodyPr>
            <a:normAutofit fontScale="62500" lnSpcReduction="20000"/>
          </a:bodyPr>
          <a:lstStyle/>
          <a:p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pass: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→ Hidden layers → Output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predicted = 0.8, true label = 1.0</a:t>
            </a:r>
          </a:p>
          <a:p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error: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= true − predicted = 1.0 − 0.8 = 0.2</a:t>
            </a:r>
          </a:p>
          <a:p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 pass: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works backward from the output layer to the input layer.	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finds how much each weight and bias contributed to the error.		    	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done using gradients (derivatives that show the rate of change).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97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4BB4-5DEB-3DFB-984C-0D274D47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Backpropagation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1F017-5617-7BDC-6409-17F04D9F8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weights: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weight = Old weight − learning rate × gradient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 until predictions are accurate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380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57EB-B53E-C02D-FE74-7A08E904F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E7017-29D5-5631-5FE4-D09740825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deep networks, gradients in early layers can become very small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slow learning or stops the layer from learning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Prevention: use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324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4AEE3-CEC5-55EF-2CFE-EBED4BE1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0F7A-D5A0-AEB6-E730-D38CEB7C5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of regularization, is useful for neural networks. 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Randomly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drops neurons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during training for one step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Prevents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overfitting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Dropout values: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0.0 → no dropout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1.0 → drop all neurons (network learns nothing)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0.0–1.0 → partial dropout, effective regularization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980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2819-C5D8-7ADC-AF0E-5DF248C0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Multi-class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EF5D9-6634-1933-29D0-46C2F3984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One-vs.-All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binary classifiers for each class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classify a fruit image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an apple?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an orange?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a banana?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a grape?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 small number of classes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 can implement one-vs-all efficiently: each output node represents a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8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EBD4-11C5-7743-BCAC-C7609E8BB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One-vs.-All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4C256-A404-6A03-7C35-3F540CD03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32" y="2160588"/>
            <a:ext cx="8217374" cy="3881437"/>
          </a:xfrm>
        </p:spPr>
      </p:pic>
    </p:spTree>
    <p:extLst>
      <p:ext uri="{BB962C8B-B14F-4D97-AF65-F5344CB8AC3E}">
        <p14:creationId xmlns:p14="http://schemas.microsoft.com/office/powerpoint/2010/main" val="12237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4B07-8F46-EBD3-9FEE-D04AEEAE1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Multi-class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9FEA3-2963-9223-82E1-4CDD27B00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One-vs-One (Softmax)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probabilities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to all classes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output layer: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→ Softmax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Softmax function: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outputs (logits) to probabilities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probabilities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to 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are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comparable across classes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training be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stable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826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4EBC-EBB2-5D4F-1A9F-9E06086F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One-vs-One (Softmax)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38DE4C-DA8C-879A-E219-58CF4E49E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163651"/>
            <a:ext cx="8596312" cy="3875310"/>
          </a:xfrm>
        </p:spPr>
      </p:pic>
    </p:spTree>
    <p:extLst>
      <p:ext uri="{BB962C8B-B14F-4D97-AF65-F5344CB8AC3E}">
        <p14:creationId xmlns:p14="http://schemas.microsoft.com/office/powerpoint/2010/main" val="1098947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5785-6F49-6FEE-A0B3-575822F3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vs. Multiple Labels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F77ED-3524-B84C-80E9-87B043DA3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Softmax: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Assumes one label per example (multi-class)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selects most likely class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multi-label examples (e.g., image with apples &amp; oranges)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class gets independent probability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15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CEB5-5880-F033-E277-3C1DE0AB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64771"/>
          </a:xfrm>
        </p:spPr>
        <p:txBody>
          <a:bodyPr/>
          <a:lstStyle/>
          <a:p>
            <a:r>
              <a:rPr lang="en-US" dirty="0"/>
              <a:t>Pitfalls of sparse data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72AE-3AF1-CA12-4628-E4D0ED7C9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many weights: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nodes, need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× 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weights — grows fast.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data needs: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weights → more data required to avoid overfitting.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computation: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inference take more processing power.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memory use: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weight matrices consume a lot of memory.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deploy: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models don’t fit well on small or edge devices.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605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48C81-686E-6159-61DE-ACFCBB4E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Embedding?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25036-B2D8-38D1-928C-1FB7DBD55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is a vector representation of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item (word, image, category, etc.) becomes a point of numbers like [0.8, 0.6].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points live in an embedding space — a mathematical space where: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points → similar items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 points → different items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models capture relationships and reduce data size.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 are for word, but the model learns them based on meaning</a:t>
            </a:r>
          </a:p>
        </p:txBody>
      </p:sp>
    </p:spTree>
    <p:extLst>
      <p:ext uri="{BB962C8B-B14F-4D97-AF65-F5344CB8AC3E}">
        <p14:creationId xmlns:p14="http://schemas.microsoft.com/office/powerpoint/2010/main" val="639137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39F0-6545-E363-30AB-B7E3C7F0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Embeddings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A564B-A4D9-CEC1-6036-32CFD9CD5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 = compact, dense representations that: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weights, data needs, computation, and memory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efficiently even with many categories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encoding: simple but inefficient for large feature sets.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Embeddings: smaller, smarter, and capture relationships between categories.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76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EE4A-BB4A-D165-AF1D-76632889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Embeddings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A32689-E80F-49A0-CE83-8BE419ED7A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0281406"/>
              </p:ext>
            </p:extLst>
          </p:nvPr>
        </p:nvGraphicFramePr>
        <p:xfrm>
          <a:off x="677863" y="2160588"/>
          <a:ext cx="8596311" cy="192024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201574819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810269769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860812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276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One-Hot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 → [1, 0, 0]Dog → [0, 1, 0]Car → [0, 0, 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Only shows existence (0/1), </a:t>
                      </a:r>
                      <a:r>
                        <a:rPr lang="en-US" b="1"/>
                        <a:t>no relationship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399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Embeddings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 → [0.8, 0.6]Dog → [0.7, 0.5]Car → [0.1, -0.9]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Captures </a:t>
                      </a:r>
                      <a:r>
                        <a:rPr lang="en-US" b="1" dirty="0"/>
                        <a:t>similarity</a:t>
                      </a:r>
                      <a:r>
                        <a:rPr lang="en-US" dirty="0"/>
                        <a:t> (Cat &amp; Dog close, Car far)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882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419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6911-75CA-70D5-A579-62A425D3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B0165-AB23-4BEA-1FDC-B89F8C44E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how items relate: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new dimension adds more meaning (e.g.,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sweetness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liquidness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models use hundreds of dimensions (e.g., 256, 512).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dimension is not directly human-understandable, but the model learns useful patterns.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801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D741-2BEA-88B1-C2C2-6F20C863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Space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B25217-F6D4-7848-B87F-9441E1C78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15" y="1807029"/>
            <a:ext cx="6672942" cy="4550682"/>
          </a:xfrm>
        </p:spPr>
      </p:pic>
    </p:spTree>
    <p:extLst>
      <p:ext uri="{BB962C8B-B14F-4D97-AF65-F5344CB8AC3E}">
        <p14:creationId xmlns:p14="http://schemas.microsoft.com/office/powerpoint/2010/main" val="3013029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8AD87-C80D-2B02-A657-F6999F4F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541C-3208-5985-8ABA-203772AD0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embeddings → each word has one fixed vector.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by predicting context (surrounding words).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in similar contexts get similar embeddings.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“They rode a burro…” vs. “They rode a horse…”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burro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vectors become close.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word2vec is the most known model for static embeddings.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word2vec:	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for creating vector representation of words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learn how to represent words as high dimensional vectors </a:t>
            </a:r>
          </a:p>
        </p:txBody>
      </p:sp>
    </p:spTree>
    <p:extLst>
      <p:ext uri="{BB962C8B-B14F-4D97-AF65-F5344CB8AC3E}">
        <p14:creationId xmlns:p14="http://schemas.microsoft.com/office/powerpoint/2010/main" val="3682846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C822-7239-6BEF-BC05-CA253F3D5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Skip-Gram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1D1F9-56E3-64A6-3BB1-EDD5F45A2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by predicting context words from a target word.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Given “cat,” predict nearby words like “pet” or “fur.”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skip-grams → better learning, but training takes longer.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training: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weights between input and embedding layer form the embedding matrix.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word’s vector = that word’s weights.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463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869D-CCA5-9255-06B6-ED25E3A0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Skip-Gram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589AB7-EC9A-35F6-D434-5BB2F0D67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198596"/>
            <a:ext cx="8596312" cy="3805421"/>
          </a:xfrm>
        </p:spPr>
      </p:pic>
    </p:spTree>
    <p:extLst>
      <p:ext uri="{BB962C8B-B14F-4D97-AF65-F5344CB8AC3E}">
        <p14:creationId xmlns:p14="http://schemas.microsoft.com/office/powerpoint/2010/main" val="26280783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6F82-A3C7-613E-90CD-D4AA8D44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Contextual Embeddings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7F451A-040B-F463-4DA5-AEF0E7CA34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1492104"/>
              </p:ext>
            </p:extLst>
          </p:nvPr>
        </p:nvGraphicFramePr>
        <p:xfrm>
          <a:off x="677334" y="1930400"/>
          <a:ext cx="8596311" cy="164592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210867504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926207554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4276915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754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Static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fixed vector per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“Orange” = same vector in all contexts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453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Contextual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Vector changes with sentence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“Orange juice” ≠ “orange color”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67338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EE0A4B5-00E7-3AEF-49E8-D713AA8A9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4272487"/>
            <a:ext cx="629210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static: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can’t handle multiple meanings.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Contextual: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adapts dynamically using surrounding words.</a:t>
            </a:r>
          </a:p>
        </p:txBody>
      </p:sp>
    </p:spTree>
    <p:extLst>
      <p:ext uri="{BB962C8B-B14F-4D97-AF65-F5344CB8AC3E}">
        <p14:creationId xmlns:p14="http://schemas.microsoft.com/office/powerpoint/2010/main" val="2407597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4C88-E13C-ACE4-71D6-957A675E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Contextual Embeddings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D86E0-F43A-EB28-5129-24780A4B5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at all words at once to understand meaning.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self-attention to find which words are most important to each other.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positional embeddings to remember the order of words.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special vector (embedding) that represents the whole sentence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240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04409-09DE-535A-3415-079038FE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Obtaining embeddings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9D413-46FB-9620-500E-76B6DA791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data can be compressed into fewer dimensions while keeping important patterns.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helps create simpler, faster, and meaningful representations (embeddings).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7789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DBCC-C74F-FCED-FDDF-4BB618601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Training Embeddings in Neural Networks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D3870-B800-7998-EDF1-F3F6D492E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train embeddings directly as part of a neural network.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 hidden layer (called an embedding layer) with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nodes → defines embedding dimensions.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training: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network learns vector values that represent input items (like words or foods).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embeddings are optimized automatically through backpropagation.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custom embeddings tuned for your specific task.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987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488B-56B8-D02B-CDDA-47DB40C6F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Training Embeddings in Neural Networks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00B266-3AF5-E04B-2BE2-A1301F9CC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35" y="2290763"/>
            <a:ext cx="8085666" cy="3881437"/>
          </a:xfrm>
        </p:spPr>
      </p:pic>
    </p:spTree>
    <p:extLst>
      <p:ext uri="{BB962C8B-B14F-4D97-AF65-F5344CB8AC3E}">
        <p14:creationId xmlns:p14="http://schemas.microsoft.com/office/powerpoint/2010/main" val="3519328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FFF7-857B-C75A-C43A-78CF282B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90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Language Models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DBEF-7433-F289-9714-567FBFFB6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9687"/>
            <a:ext cx="8596668" cy="4201676"/>
          </a:xfrm>
        </p:spPr>
        <p:txBody>
          <a:bodyPr>
            <a:normAutofit/>
          </a:bodyPr>
          <a:lstStyle/>
          <a:p>
            <a:r>
              <a:rPr lang="en-US" dirty="0"/>
              <a:t>Learn how language works by studying lots of text.</a:t>
            </a:r>
          </a:p>
          <a:p>
            <a:r>
              <a:rPr lang="en-US" dirty="0"/>
              <a:t>Predict the </a:t>
            </a:r>
            <a:r>
              <a:rPr lang="en-US" b="1" dirty="0"/>
              <a:t>next word (token)</a:t>
            </a:r>
            <a:r>
              <a:rPr lang="en-US" dirty="0"/>
              <a:t> based on previous words.</a:t>
            </a:r>
          </a:p>
          <a:p>
            <a:r>
              <a:rPr lang="en-US" dirty="0"/>
              <a:t>Example: “I want to eat” → “pizza”, “food”</a:t>
            </a:r>
          </a:p>
          <a:p>
            <a:r>
              <a:rPr lang="en-US" dirty="0"/>
              <a:t>Use </a:t>
            </a:r>
            <a:r>
              <a:rPr lang="en-US" b="1" dirty="0"/>
              <a:t>tokens</a:t>
            </a:r>
            <a:r>
              <a:rPr lang="en-US" dirty="0"/>
              <a:t> (small text units like words or </a:t>
            </a:r>
            <a:r>
              <a:rPr lang="en-US" dirty="0" err="1"/>
              <a:t>subwords</a:t>
            </a:r>
            <a:r>
              <a:rPr lang="en-US" dirty="0"/>
              <a:t>).</a:t>
            </a:r>
          </a:p>
          <a:p>
            <a:r>
              <a:rPr lang="en-US" b="1" dirty="0" err="1"/>
              <a:t>Subword</a:t>
            </a:r>
            <a:r>
              <a:rPr lang="en-US" b="1" dirty="0"/>
              <a:t> tokenization</a:t>
            </a:r>
            <a:r>
              <a:rPr lang="en-US" dirty="0"/>
              <a:t> breaks words into smaller parts:</a:t>
            </a:r>
          </a:p>
          <a:p>
            <a:pPr lvl="1"/>
            <a:r>
              <a:rPr lang="en-US" i="1" dirty="0"/>
              <a:t>unwatched</a:t>
            </a:r>
            <a:r>
              <a:rPr lang="en-US" dirty="0"/>
              <a:t> → </a:t>
            </a:r>
            <a:r>
              <a:rPr lang="en-US" b="1" dirty="0"/>
              <a:t>un + watch + ed</a:t>
            </a:r>
            <a:endParaRPr lang="en-US" dirty="0"/>
          </a:p>
          <a:p>
            <a:pPr lvl="1"/>
            <a:r>
              <a:rPr lang="en-US" i="1" dirty="0"/>
              <a:t>cats</a:t>
            </a:r>
            <a:r>
              <a:rPr lang="en-US" dirty="0"/>
              <a:t> → </a:t>
            </a:r>
            <a:r>
              <a:rPr lang="en-US" b="1" dirty="0"/>
              <a:t>cat + s</a:t>
            </a:r>
            <a:endParaRPr lang="en-US" dirty="0"/>
          </a:p>
          <a:p>
            <a:r>
              <a:rPr lang="en-US" dirty="0"/>
              <a:t>Helps the model understand new or rare words.</a:t>
            </a:r>
          </a:p>
          <a:p>
            <a:r>
              <a:rPr lang="en-US" dirty="0"/>
              <a:t>Used in text, images, and audio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4090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E318-9E2E-B266-5A54-2B95BE6C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N-gram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1002E-DAAE-8F18-BB40-AD6C53C62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words based on the </a:t>
            </a:r>
            <a:r>
              <a:rPr lang="en-US" b="1" dirty="0"/>
              <a:t>previous (N−1)</a:t>
            </a:r>
            <a:r>
              <a:rPr lang="en-US" dirty="0"/>
              <a:t> words.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2-gram: “you are”</a:t>
            </a:r>
          </a:p>
          <a:p>
            <a:pPr lvl="1"/>
            <a:r>
              <a:rPr lang="en-US" dirty="0"/>
              <a:t>3-gram: “you are very”</a:t>
            </a:r>
          </a:p>
          <a:p>
            <a:r>
              <a:rPr lang="en-US" dirty="0"/>
              <a:t>Example: “orange is” →</a:t>
            </a:r>
          </a:p>
          <a:p>
            <a:pPr lvl="1"/>
            <a:r>
              <a:rPr lang="en-US" dirty="0"/>
              <a:t>“ripe” (fruit) or “cheerful” (color)</a:t>
            </a:r>
          </a:p>
          <a:p>
            <a:r>
              <a:rPr lang="en-US" b="1" dirty="0"/>
              <a:t>Limit:</a:t>
            </a:r>
            <a:r>
              <a:rPr lang="en-US" dirty="0"/>
              <a:t> small N = short context → many mistakes</a:t>
            </a:r>
          </a:p>
          <a:p>
            <a:r>
              <a:rPr lang="en-US" dirty="0"/>
              <a:t>Large N = too rare → unreliable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696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6AFF-6AC0-C531-85C6-531722636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FCC0F-4EAB-E7A3-6CAC-48ACC9959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 = words before or after the target word.</a:t>
            </a:r>
          </a:p>
          <a:p>
            <a:r>
              <a:rPr lang="en-US" dirty="0"/>
              <a:t>Helps choose the right meaning (e.g., “orange” = fruit or color).</a:t>
            </a:r>
          </a:p>
          <a:p>
            <a:r>
              <a:rPr lang="en-US" dirty="0"/>
              <a:t>N-gram models have </a:t>
            </a:r>
            <a:r>
              <a:rPr lang="en-US" b="1" dirty="0"/>
              <a:t>limited context</a:t>
            </a:r>
            <a:r>
              <a:rPr lang="en-US" dirty="0"/>
              <a:t>.</a:t>
            </a:r>
          </a:p>
          <a:p>
            <a:r>
              <a:rPr lang="en-US" dirty="0"/>
              <a:t>Bigger context → better understanding but harder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5693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3E5A-9889-97F9-7640-D02F332A1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Recurrent Neural Networks (RNNs)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C9EF4-C240-A02B-BF58-74593E40E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from sequences of words (one at a time).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 important info, forget the rest.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understand context across sentences.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limited for very long texts.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 with vanishing gradient → hard to learn long dependencies.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LLMs are better — they see the whole text at once.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5291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0EB6-B0FE-060F-3B5E-F23230DB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What's a large language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50816-D27F-D1C8-AFD1-86EEB1D67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longer context and meaning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far more parameters than older models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smarter, more accurate predictions</a:t>
            </a:r>
          </a:p>
        </p:txBody>
      </p:sp>
    </p:spTree>
    <p:extLst>
      <p:ext uri="{BB962C8B-B14F-4D97-AF65-F5344CB8AC3E}">
        <p14:creationId xmlns:p14="http://schemas.microsoft.com/office/powerpoint/2010/main" val="28130871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5C65B-F992-58D8-9D81-5C3DF1D96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Transformer?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2508B-725A-40BD-2788-221D770FD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architecture behind modern LLMs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Encoder + Decoder structure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Encoder: Understands the input text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Decoder: Generates the output text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English → Encoder → Intermediate meaning → Decoder → French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42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1599-6374-6850-D05E-FACB9892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Transformer?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323BF6-998B-48AD-BC16-532C16A64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91" y="2578100"/>
            <a:ext cx="8218691" cy="2601685"/>
          </a:xfrm>
        </p:spPr>
      </p:pic>
    </p:spTree>
    <p:extLst>
      <p:ext uri="{BB962C8B-B14F-4D97-AF65-F5344CB8AC3E}">
        <p14:creationId xmlns:p14="http://schemas.microsoft.com/office/powerpoint/2010/main" val="7277584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AA47-C30A-7B15-7CE2-099B1B0C5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Encoder-only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E7F3F-9865-6314-9E73-DCD66611A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and understand text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→ meaningful embeddings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meaning or intent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missing words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cat is on the ___” → “mat”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95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07B6-1A04-A59B-4FEE-481CC84E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74D8F-4692-B55F-7362-45BA55C6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how the Transformer understands the input before giving an answer.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encoder changes each word into numbers (vectors) that show meaning and context.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“I” → [0.2, -0.4, 0.6, …]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“am” → [-0.1, 0.5, -0.3, …]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“hungry” → [0.7, -0.1, 0.8, …]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numbers together are the model’s understanding of the sentence.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decoder then uses this information to generate the output, like a translation or a response.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916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353F-BBF3-6001-3372-F3086B19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Decoder-only Models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4BC51-F6D8-99A5-4CDB-42193D017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text word by word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Looks at previous words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predicts next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 stories, chat replies, code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“Once upon a time,” → “there was a small village by the sea.”</a:t>
            </a: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862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CEAB-FD24-5E3A-ED85-9376FC7D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DC6974-0A58-53B7-0171-78F51819CC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6901584"/>
              </p:ext>
            </p:extLst>
          </p:nvPr>
        </p:nvGraphicFramePr>
        <p:xfrm>
          <a:off x="914400" y="1950565"/>
          <a:ext cx="7586270" cy="3598041"/>
        </p:xfrm>
        <a:graphic>
          <a:graphicData uri="http://schemas.openxmlformats.org/drawingml/2006/table">
            <a:tbl>
              <a:tblPr/>
              <a:tblGrid>
                <a:gridCol w="1864922">
                  <a:extLst>
                    <a:ext uri="{9D8B030D-6E8A-4147-A177-3AD203B41FA5}">
                      <a16:colId xmlns:a16="http://schemas.microsoft.com/office/drawing/2014/main" val="1612506108"/>
                    </a:ext>
                  </a:extLst>
                </a:gridCol>
                <a:gridCol w="1907116">
                  <a:extLst>
                    <a:ext uri="{9D8B030D-6E8A-4147-A177-3AD203B41FA5}">
                      <a16:colId xmlns:a16="http://schemas.microsoft.com/office/drawing/2014/main" val="4037044250"/>
                    </a:ext>
                  </a:extLst>
                </a:gridCol>
                <a:gridCol w="1907116">
                  <a:extLst>
                    <a:ext uri="{9D8B030D-6E8A-4147-A177-3AD203B41FA5}">
                      <a16:colId xmlns:a16="http://schemas.microsoft.com/office/drawing/2014/main" val="308192821"/>
                    </a:ext>
                  </a:extLst>
                </a:gridCol>
                <a:gridCol w="1907116">
                  <a:extLst>
                    <a:ext uri="{9D8B030D-6E8A-4147-A177-3AD203B41FA5}">
                      <a16:colId xmlns:a16="http://schemas.microsoft.com/office/drawing/2014/main" val="3819223999"/>
                    </a:ext>
                  </a:extLst>
                </a:gridCol>
              </a:tblGrid>
              <a:tr h="446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Architecture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It Works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97046"/>
                  </a:ext>
                </a:extLst>
              </a:tr>
              <a:tr h="1215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N-gram models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LMs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word frequency counts (e.g., “I am” → “happy”). Predict next word statistically.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limited context (only last few words).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106088"/>
                  </a:ext>
                </a:extLst>
              </a:tr>
              <a:tr h="1023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Recurrent Neural Networks (RNNs)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Later LMs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text word by word, remember previous words using internal memory.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Forget long-term context (vanishing gradients).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966959"/>
                  </a:ext>
                </a:extLst>
              </a:tr>
              <a:tr h="830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LLMs (e.g., GPT, BERT)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</a:t>
                      </a: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self-attention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look at all words at once, not just sequentially.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 high computational power.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16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2332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F6C46-AE74-3BFE-5EB4-F9870DCCD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Self-Attention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E06CA-8AD2-CDF8-153F-7EF3BF754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word looks at all other words to understand meaning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which words are most important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animal didn’t cross because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tired.”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“It” attends to “animal.”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looks before and after (encoder)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looks only before (decoder)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0356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7F12-4075-EDDD-F69D-B2FB01C7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Self-Attention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194CAF-7685-98BD-82A0-BDE5CF20E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005735" y="1961541"/>
            <a:ext cx="4131044" cy="4724399"/>
          </a:xfrm>
        </p:spPr>
      </p:pic>
    </p:spTree>
    <p:extLst>
      <p:ext uri="{BB962C8B-B14F-4D97-AF65-F5344CB8AC3E}">
        <p14:creationId xmlns:p14="http://schemas.microsoft.com/office/powerpoint/2010/main" val="21339180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99AF0-19C3-6AE1-A625-AE4871A1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Multi-Head, Multi-Layer Attention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FFA71-E30B-C2B6-D6C4-8593E9707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head focuses on different relationships (grammar, meaning, reference)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Stacked layers give deeper understanding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layers → grammar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→ meaning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layers → reasoning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329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3E96-9784-079B-EBA6-1FBA26A4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Fine-tuning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A63C-48A1-8A76-4265-595F11F45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 foundation LLM on specific examples to make it better at one task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task-specific examples (hundreds to a few thousand)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doesn’t need a lot of data — sometimes only a few hundred examples.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fine-tuning: Updates all model parameters → computationally expensive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Parameter-efficient tuning: Updates only some parameters → faster, cheaper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3462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8EAD-91BB-ED86-824F-DEAFC130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Distillation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96539-FBB5-3B24-137C-BCD283191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smaller, faster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 large LLM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LLMs use huge computational and environmental resources, though many parameters are unnecessary for specific tasks.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teacher-student approach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labels data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model learns from those labels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predictions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resources needed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less accurate than the large model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Large toxicity model labels data → small model performs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moderation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7445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72ADF-289F-67ED-21F6-CCD2FE41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Prompt Engineering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F0204-E19E-41F0-3954-D17D580CC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Guides the LLM to produce desired output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One-shot: 1 example given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Few-shot: Multiple examples given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Zero-shot: Only instructions, no examples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change model parameters — just leverages pattern recognition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587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C655C-C405-70BF-CD6B-3BFFA0BE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Offline Inference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87F3E-9E42-6574-6EF5-E46255C8A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bulk or static inference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Predictions are precomputed and stored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tasks not requiring live responses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Google Search precomputed Covid vaccine synonyms for real-time query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4085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E03A9-A7D2-5105-7EC5-1E9C6709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8F56-195B-F584-E46E-3E24A0F3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that learn patterns from data for tasks like prediction, classification, and recognition.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 Nodes (neurons)/Hidden layers.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 (Sigmoid, Tanh,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 to adjust weights and reduce errors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multi-class classification through techniques like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858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2287-6E7B-F056-2FD0-5F609F495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AC232-DD0E-30DC-05EE-B475DB2F6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vector representations of data (like words or items).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dimensionality and capture relationships or similarities between entities.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Space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(Static embeddings vs Contextual embeddings)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Obtain</a:t>
            </a: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681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0D8F-624A-DB1A-A6B6-574B3D8DD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8CFDD-E28B-1176-84C0-40E3A9956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Models (LMs)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next word (token) based on previous words.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statistical patterns of language from large text data.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(N-gram models/RNNs)\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laid the foundation for LLMs.</a:t>
            </a:r>
          </a:p>
        </p:txBody>
      </p:sp>
    </p:spTree>
    <p:extLst>
      <p:ext uri="{BB962C8B-B14F-4D97-AF65-F5344CB8AC3E}">
        <p14:creationId xmlns:p14="http://schemas.microsoft.com/office/powerpoint/2010/main" val="32430913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37C6F-9565-AF11-0ECF-55A424A8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117D7-6273-0A20-BCED-3B0203F97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  <a:p>
            <a:r>
              <a:rPr lang="en-US" dirty="0"/>
              <a:t>Advanced models built using </a:t>
            </a:r>
            <a:r>
              <a:rPr lang="en-US" b="1" dirty="0"/>
              <a:t>Transformers</a:t>
            </a:r>
            <a:r>
              <a:rPr lang="en-US" dirty="0"/>
              <a:t> that understand and generate human-like text.</a:t>
            </a:r>
          </a:p>
          <a:p>
            <a:r>
              <a:rPr lang="en-US" dirty="0"/>
              <a:t>Text generation, translation, summarization.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FA9283-30CB-E133-72CB-32907BBE78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6698881"/>
              </p:ext>
            </p:extLst>
          </p:nvPr>
        </p:nvGraphicFramePr>
        <p:xfrm>
          <a:off x="677690" y="3879238"/>
          <a:ext cx="8596312" cy="201168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3309288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768508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Techniques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46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Architecture (how LLMs are built)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Encoder/Decoder, Intermediate Representation, Self-Attention, Multi-head &amp; Multi-layer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231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Training (how LLMs learn)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Fine-Tuning, Distillation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184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Usage (how LLMs are used)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Prompt Engineering, Offline Inference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100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6088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14CEEA-4DA8-531F-5434-ACB2EFFDA455}"/>
              </a:ext>
            </a:extLst>
          </p:cNvPr>
          <p:cNvSpPr txBox="1"/>
          <p:nvPr/>
        </p:nvSpPr>
        <p:spPr>
          <a:xfrm>
            <a:off x="2528207" y="2459504"/>
            <a:ext cx="61014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attention!!</a:t>
            </a:r>
          </a:p>
        </p:txBody>
      </p:sp>
    </p:spTree>
    <p:extLst>
      <p:ext uri="{BB962C8B-B14F-4D97-AF65-F5344CB8AC3E}">
        <p14:creationId xmlns:p14="http://schemas.microsoft.com/office/powerpoint/2010/main" val="14894663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2307</TotalTime>
  <Words>2499</Words>
  <Application>Microsoft Office PowerPoint</Application>
  <PresentationFormat>Widescreen</PresentationFormat>
  <Paragraphs>367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Cambria Math</vt:lpstr>
      <vt:lpstr>Times New Roman</vt:lpstr>
      <vt:lpstr>Trebuchet MS</vt:lpstr>
      <vt:lpstr>Wingdings 3</vt:lpstr>
      <vt:lpstr>Facet</vt:lpstr>
      <vt:lpstr>Advanced ML Model </vt:lpstr>
      <vt:lpstr>Neural networks</vt:lpstr>
      <vt:lpstr>Nodes and hidden layers</vt:lpstr>
      <vt:lpstr>Neuron operation:</vt:lpstr>
      <vt:lpstr>Neural Network Structure </vt:lpstr>
      <vt:lpstr>Activation functions</vt:lpstr>
      <vt:lpstr>Common Activation Functions</vt:lpstr>
      <vt:lpstr>Sigmoid Function</vt:lpstr>
      <vt:lpstr>Sigmoid Function</vt:lpstr>
      <vt:lpstr>Tanh Function </vt:lpstr>
      <vt:lpstr>Tanh Function </vt:lpstr>
      <vt:lpstr>ReLU Function</vt:lpstr>
      <vt:lpstr>ReLU Function</vt:lpstr>
      <vt:lpstr>Training using backpropagation</vt:lpstr>
      <vt:lpstr>How Backpropagation Works</vt:lpstr>
      <vt:lpstr>How Backpropagation Works</vt:lpstr>
      <vt:lpstr>Vanishing Gradients</vt:lpstr>
      <vt:lpstr>Dropout Regularization</vt:lpstr>
      <vt:lpstr>Multi-class classification</vt:lpstr>
      <vt:lpstr>One-vs.-All </vt:lpstr>
      <vt:lpstr>Multi-class classification</vt:lpstr>
      <vt:lpstr>One-vs-One (Softmax) </vt:lpstr>
      <vt:lpstr>Single vs. Multiple Labels</vt:lpstr>
      <vt:lpstr>Pitfalls of sparse data representations</vt:lpstr>
      <vt:lpstr>What Is an Embedding?</vt:lpstr>
      <vt:lpstr>Why Use Embeddings </vt:lpstr>
      <vt:lpstr>Why Use Embeddings </vt:lpstr>
      <vt:lpstr>Embedding Space</vt:lpstr>
      <vt:lpstr>Embedding Space</vt:lpstr>
      <vt:lpstr>Static Embeddings</vt:lpstr>
      <vt:lpstr>Skip-Gram Model</vt:lpstr>
      <vt:lpstr>Skip-Gram Model</vt:lpstr>
      <vt:lpstr>Static vs. Contextual Embeddings</vt:lpstr>
      <vt:lpstr>Contextual Embeddings in Practice</vt:lpstr>
      <vt:lpstr>Obtaining embeddings</vt:lpstr>
      <vt:lpstr>Training Embeddings in Neural Networks </vt:lpstr>
      <vt:lpstr>Training Embeddings in Neural Networks </vt:lpstr>
      <vt:lpstr>Language Models </vt:lpstr>
      <vt:lpstr>N-gram Models</vt:lpstr>
      <vt:lpstr>Context</vt:lpstr>
      <vt:lpstr>Recurrent Neural Networks (RNNs) </vt:lpstr>
      <vt:lpstr>What's a large language model</vt:lpstr>
      <vt:lpstr>What Is a Transformer?</vt:lpstr>
      <vt:lpstr>What Is a Transformer?</vt:lpstr>
      <vt:lpstr>Encoder-only Models</vt:lpstr>
      <vt:lpstr>Intermediate Representation</vt:lpstr>
      <vt:lpstr>Decoder-only Models </vt:lpstr>
      <vt:lpstr>Compression </vt:lpstr>
      <vt:lpstr>Self-Attention</vt:lpstr>
      <vt:lpstr>Self-Attention </vt:lpstr>
      <vt:lpstr>Multi-Head, Multi-Layer Attention </vt:lpstr>
      <vt:lpstr>Fine-tuning </vt:lpstr>
      <vt:lpstr>Distillation </vt:lpstr>
      <vt:lpstr>Prompt Engineering </vt:lpstr>
      <vt:lpstr>Offline Inference </vt:lpstr>
      <vt:lpstr>Summary  </vt:lpstr>
      <vt:lpstr>Summary</vt:lpstr>
      <vt:lpstr>Summary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Almir</dc:creator>
  <cp:lastModifiedBy>khaled Almir</cp:lastModifiedBy>
  <cp:revision>10</cp:revision>
  <dcterms:created xsi:type="dcterms:W3CDTF">2025-11-08T11:05:29Z</dcterms:created>
  <dcterms:modified xsi:type="dcterms:W3CDTF">2025-11-16T09:44:36Z</dcterms:modified>
</cp:coreProperties>
</file>