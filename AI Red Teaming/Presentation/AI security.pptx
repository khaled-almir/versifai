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3"/>
  </p:notesMasterIdLst>
  <p:sldIdLst>
    <p:sldId id="256" r:id="rId2"/>
    <p:sldId id="259" r:id="rId3"/>
    <p:sldId id="262" r:id="rId4"/>
    <p:sldId id="258" r:id="rId5"/>
    <p:sldId id="260" r:id="rId6"/>
    <p:sldId id="261" r:id="rId7"/>
    <p:sldId id="268" r:id="rId8"/>
    <p:sldId id="263" r:id="rId9"/>
    <p:sldId id="264" r:id="rId10"/>
    <p:sldId id="265" r:id="rId11"/>
    <p:sldId id="266" r:id="rId12"/>
    <p:sldId id="267" r:id="rId13"/>
    <p:sldId id="282" r:id="rId14"/>
    <p:sldId id="286" r:id="rId15"/>
    <p:sldId id="283" r:id="rId16"/>
    <p:sldId id="285" r:id="rId17"/>
    <p:sldId id="287" r:id="rId18"/>
    <p:sldId id="277" r:id="rId19"/>
    <p:sldId id="278" r:id="rId20"/>
    <p:sldId id="279" r:id="rId21"/>
    <p:sldId id="280" r:id="rId22"/>
    <p:sldId id="281" r:id="rId23"/>
    <p:sldId id="292" r:id="rId24"/>
    <p:sldId id="293" r:id="rId25"/>
    <p:sldId id="294" r:id="rId26"/>
    <p:sldId id="276" r:id="rId27"/>
    <p:sldId id="288" r:id="rId28"/>
    <p:sldId id="289" r:id="rId29"/>
    <p:sldId id="290" r:id="rId30"/>
    <p:sldId id="291" r:id="rId31"/>
    <p:sldId id="25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DAB5F-7FC8-47C0-9451-C103FE360572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1FAC4-6512-4F76-9C6B-E9055160B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7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1FAC4-6512-4F76-9C6B-E9055160BB1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96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64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7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6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0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2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1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0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61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6997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76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6037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34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2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75B0D-BA14-4682-AC7D-E10FEB1CF046}" type="datetimeFigureOut">
              <a:rPr lang="en-US" smtClean="0"/>
              <a:t>14/12/2025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5710A50-7B3A-4297-9654-908B78CF5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2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en-us/security/business/security-101/what-is-ai-for-cybersecurity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security/business/security-101/what-is-ai-securit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en-us/security/business/security-101/what-is-ai-securit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microsoft.com/en-us/security/business/security-101/what-is-ai-securit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en-us/security/business/security-101/what-is-ai-security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en-us/security/business/security-101/what-is-ai-security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i-foundry/openai/concepts/red-teaming?view=foundry-classic&amp;toc=%2Fsecurity%2Fai-red-team%2Ftoc.json&amp;bc=%2Fsecurity%2Fai-red-team%2Fbreadcrumb%2Ftoc.jso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owasp.org/www-project-machine-learning-security-top-10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enai.owasp.org/llm-top-10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enai.owasp.org/llm-top-10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enai.owasp.org/llm-top-10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thehackernews.com/2025/11/researchers-find-chatgpt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0EC1-10B4-6259-A17A-D1F0E118C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096899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Security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54BCF-420F-19F2-94F0-44B0B18BCE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khaled Almir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Natasha Alkhatib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AI Red team intern at VersifAI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ACCE9D-CEB5-6330-81C4-BD831FDF4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60" y="0"/>
            <a:ext cx="2344511" cy="234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35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776A-78ED-F925-1F78-2FB64DCD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AI?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90B47-79C8-8332-D4A2-31DAF189C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is a technology that lets machines behave like humans — learning, understanding, reasoning, solving problems, making decisions.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enables computers or machines to perform tasks that normally require human intelligence.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24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248CC-E26E-F9D7-C6CD-45051A43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artificial intelligence, machine learning, deep learning and generative AI are related.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195EE8-BCEE-EB15-2DA8-1D82FA4E7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2171475"/>
            <a:ext cx="8717037" cy="4076925"/>
          </a:xfrm>
        </p:spPr>
      </p:pic>
    </p:spTree>
    <p:extLst>
      <p:ext uri="{BB962C8B-B14F-4D97-AF65-F5344CB8AC3E}">
        <p14:creationId xmlns:p14="http://schemas.microsoft.com/office/powerpoint/2010/main" val="282098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7384B-1E36-86CF-BB48-FC1D08C5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Cyber Security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75E70-9F89-28EE-5C24-B4FD554DF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is the practice of protecting people, systems, and data from cyberattacks using a mix of technologies, processes, and policies.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 at enterprise level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is a core component of an organization’s overall risk management strategy.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plays a key role in managing cyber risks such as data breaches, system compromises, and service disruptions.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14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75DA-1FB6-4EEE-DD3F-EEB2D4E6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668" cy="1320800"/>
          </a:xfrm>
        </p:spPr>
        <p:txBody>
          <a:bodyPr/>
          <a:lstStyle/>
          <a:p>
            <a:r>
              <a:rPr lang="en-US" dirty="0"/>
              <a:t>What is AI security 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BCA705D-1F9A-CDEC-501C-29AC7EB52F8D}"/>
              </a:ext>
            </a:extLst>
          </p:cNvPr>
          <p:cNvSpPr/>
          <p:nvPr/>
        </p:nvSpPr>
        <p:spPr>
          <a:xfrm>
            <a:off x="3925012" y="2054115"/>
            <a:ext cx="2536371" cy="92822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Different Meanings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73CE2B-E028-D85C-6836-0B51C6F5024C}"/>
              </a:ext>
            </a:extLst>
          </p:cNvPr>
          <p:cNvSpPr/>
          <p:nvPr/>
        </p:nvSpPr>
        <p:spPr>
          <a:xfrm>
            <a:off x="1583833" y="4227630"/>
            <a:ext cx="2932804" cy="79465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for cybersecurity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1884D4-6335-04E7-F4A9-F65B5334D869}"/>
              </a:ext>
            </a:extLst>
          </p:cNvPr>
          <p:cNvSpPr/>
          <p:nvPr/>
        </p:nvSpPr>
        <p:spPr>
          <a:xfrm>
            <a:off x="5983039" y="4223656"/>
            <a:ext cx="2917372" cy="79863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security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2C5709-080C-1440-C551-5BE947A9DA1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050235" y="2982340"/>
            <a:ext cx="2142963" cy="1245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1A617A-E72D-F5D7-168F-DFCE4CC6F1C8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5193198" y="2982340"/>
            <a:ext cx="2248527" cy="12413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13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1251-9E89-B23A-E8C9-5464D87F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AI for cybersecurity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167B0-F0EF-9494-006C-60A612E05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enhances protection of systems, networks, and data from cyberthreats.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threat detection, pattern recognition, and incident response.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machine learning (ML), deep learning (DL), and generative AI.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869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B2C1-F8AC-9DC6-446F-7CE40D8D3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for cybersecurity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34EB00-FBC9-E346-D540-86A482956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35" y="1789884"/>
            <a:ext cx="9084642" cy="4458516"/>
          </a:xfrm>
        </p:spPr>
      </p:pic>
    </p:spTree>
    <p:extLst>
      <p:ext uri="{BB962C8B-B14F-4D97-AF65-F5344CB8AC3E}">
        <p14:creationId xmlns:p14="http://schemas.microsoft.com/office/powerpoint/2010/main" val="895021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8137-6D50-CB80-1093-DADD3CF2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AI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21E4B-E31F-ED33-643F-2AA11B01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security is a branch of cybersecurity focused on protecting AI systems from threats and vulnerabilities.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protecting AI systems (data, models, usage) from misuse, tampering, or unauthorized access.</a:t>
            </a:r>
          </a:p>
        </p:txBody>
      </p:sp>
    </p:spTree>
    <p:extLst>
      <p:ext uri="{BB962C8B-B14F-4D97-AF65-F5344CB8AC3E}">
        <p14:creationId xmlns:p14="http://schemas.microsoft.com/office/powerpoint/2010/main" val="3598033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0CC3D-C6CD-1792-6D66-2670F0628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linkClick r:id="rId2"/>
              </a:rPr>
              <a:t>Why AI Security Matters?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6C78-2B9E-2BAC-5F9A-A47C46770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process large volumes of sensitive data (financial, medical, personal).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 can lead to compromised models that produce harmful or inaccurate outputs.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breaches can cause downtime or loss of AI availability.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and accountability are essential for AI adoption.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07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F52E-84E4-FA42-2127-A2AEEE63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Key Concepts in AI Security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CFB8C7-F519-BB66-AE9D-1244BF42A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127" y="1930400"/>
            <a:ext cx="6579082" cy="4233787"/>
          </a:xfrm>
        </p:spPr>
      </p:pic>
    </p:spTree>
    <p:extLst>
      <p:ext uri="{BB962C8B-B14F-4D97-AF65-F5344CB8AC3E}">
        <p14:creationId xmlns:p14="http://schemas.microsoft.com/office/powerpoint/2010/main" val="1904023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4866-584C-EAD1-F9F9-2A66344B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linkClick r:id="rId2"/>
              </a:rPr>
              <a:t>Best Practices for Securing AI Systems</a:t>
            </a:r>
            <a:br>
              <a:rPr lang="en-US" b="1" dirty="0">
                <a:hlinkClick r:id="rId2"/>
              </a:rPr>
            </a:b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0853AD6-D740-FED0-4216-3B1C2515A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9537846"/>
              </p:ext>
            </p:extLst>
          </p:nvPr>
        </p:nvGraphicFramePr>
        <p:xfrm>
          <a:off x="677690" y="2183243"/>
          <a:ext cx="8596312" cy="362712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092258844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694364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Practices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456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Security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Encrypt sensitive training data</a:t>
                      </a:r>
                      <a:b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Verify data sources to avoid data poisoning</a:t>
                      </a:r>
                      <a:b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Regularly sanitize and clean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245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Security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Test models for adversarial vulnerabilities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Apply differential privacy to prevent data leakage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Use adversarial training to improve model resilience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158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828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4A310-6635-A48F-A982-E2944959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linkClick r:id="rId2"/>
              </a:rPr>
              <a:t>Best Practices for Securing AI Systems</a:t>
            </a:r>
            <a:br>
              <a:rPr lang="en-US" b="1" dirty="0">
                <a:hlinkClick r:id="rId2"/>
              </a:rPr>
            </a:b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F7968F4-9000-EADA-C46E-BE9A321BE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985241"/>
              </p:ext>
            </p:extLst>
          </p:nvPr>
        </p:nvGraphicFramePr>
        <p:xfrm>
          <a:off x="677863" y="3232626"/>
          <a:ext cx="8596312" cy="36576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556234856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772321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109998"/>
                  </a:ext>
                </a:extLst>
              </a:tr>
            </a:tbl>
          </a:graphicData>
        </a:graphic>
      </p:graphicFrame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C57F7819-76C0-A468-8EA2-556E38BB16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5725338"/>
              </p:ext>
            </p:extLst>
          </p:nvPr>
        </p:nvGraphicFramePr>
        <p:xfrm>
          <a:off x="771821" y="2166257"/>
          <a:ext cx="8407694" cy="3614056"/>
        </p:xfrm>
        <a:graphic>
          <a:graphicData uri="http://schemas.openxmlformats.org/drawingml/2006/table">
            <a:tbl>
              <a:tblPr/>
              <a:tblGrid>
                <a:gridCol w="4203847">
                  <a:extLst>
                    <a:ext uri="{9D8B030D-6E8A-4147-A177-3AD203B41FA5}">
                      <a16:colId xmlns:a16="http://schemas.microsoft.com/office/drawing/2014/main" val="2481704748"/>
                    </a:ext>
                  </a:extLst>
                </a:gridCol>
                <a:gridCol w="4203847">
                  <a:extLst>
                    <a:ext uri="{9D8B030D-6E8A-4147-A177-3AD203B41FA5}">
                      <a16:colId xmlns:a16="http://schemas.microsoft.com/office/drawing/2014/main" val="3444347646"/>
                    </a:ext>
                  </a:extLst>
                </a:gridCol>
              </a:tblGrid>
              <a:tr h="1619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Control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0" marR="57080" marT="28540" marB="28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Implement role-based access control (RBAC)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Use multifactor authentication (MFA)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Log and monitor all access attempts</a:t>
                      </a:r>
                    </a:p>
                  </a:txBody>
                  <a:tcPr marL="57080" marR="57080" marT="28540" marB="28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684044"/>
                  </a:ext>
                </a:extLst>
              </a:tr>
              <a:tr h="1994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&amp; Auditing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080" marR="57080" marT="28540" marB="28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Run regular audits to identify vulnerabilities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Use automated tools for real-time anomaly detection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Update AI models frequently to patch weaknesses</a:t>
                      </a:r>
                    </a:p>
                  </a:txBody>
                  <a:tcPr marL="57080" marR="57080" marT="28540" marB="28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88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7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1C0EA-8463-C96B-B8DD-27D6A9E5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What is AI Red Teaming?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24F3F-FDAB-391E-52B1-45AA83630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testing of AI systems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real attackers and abusive users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to: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safeguards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unsafe outputs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weaknesses before attackers do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discovery, not prevention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892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0837-4BFD-BD4D-8998-A1DA8DAA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Red Teaming Process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4AC58B9-E954-D837-9512-0D6257BDA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393333"/>
            <a:ext cx="9252856" cy="5029238"/>
          </a:xfrm>
        </p:spPr>
      </p:pic>
    </p:spTree>
    <p:extLst>
      <p:ext uri="{BB962C8B-B14F-4D97-AF65-F5344CB8AC3E}">
        <p14:creationId xmlns:p14="http://schemas.microsoft.com/office/powerpoint/2010/main" val="74096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44283-0BA6-3783-7D4A-C8E3BC31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Relationship between </a:t>
            </a:r>
            <a:r>
              <a:rPr lang="it-IT" dirty="0"/>
              <a:t>AI Security &amp; AI Red Teaming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A89C4-43B3-B4F0-592B-42C679BF0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Security builds protections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Red Teaming tests those protections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teaming validates if security controls really work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95D50-4AEA-93C8-23C4-3131E09EB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203" y="3676008"/>
            <a:ext cx="5124267" cy="287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35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359D-E6B3-1F45-BB04-D5C29877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C7D3E5-9A31-9210-5C4D-06EE2A02D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672136"/>
              </p:ext>
            </p:extLst>
          </p:nvPr>
        </p:nvGraphicFramePr>
        <p:xfrm>
          <a:off x="914400" y="1930400"/>
          <a:ext cx="8359602" cy="4358640"/>
        </p:xfrm>
        <a:graphic>
          <a:graphicData uri="http://schemas.openxmlformats.org/drawingml/2006/table">
            <a:tbl>
              <a:tblPr/>
              <a:tblGrid>
                <a:gridCol w="4185244">
                  <a:extLst>
                    <a:ext uri="{9D8B030D-6E8A-4147-A177-3AD203B41FA5}">
                      <a16:colId xmlns:a16="http://schemas.microsoft.com/office/drawing/2014/main" val="2158093612"/>
                    </a:ext>
                  </a:extLst>
                </a:gridCol>
                <a:gridCol w="4174358">
                  <a:extLst>
                    <a:ext uri="{9D8B030D-6E8A-4147-A177-3AD203B41FA5}">
                      <a16:colId xmlns:a16="http://schemas.microsoft.com/office/drawing/2014/main" val="21107347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Red Teaming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46668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Defensive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Offensive (controlled)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80681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Simulates 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13225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Ongoing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Periodic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70150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protections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Tests protections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5875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Long-term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Short-term activity</a:t>
                      </a:r>
                    </a:p>
                    <a:p>
                      <a:pPr>
                        <a:buNone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37505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Policies, controls,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and probing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71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759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FCBC-4CEF-18A1-880B-366DD11A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red teaming activity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4972-7332-0B57-9880-FBD5860BA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main activity of AI red teaming is to </a:t>
            </a:r>
            <a:r>
              <a:rPr lang="en-US" dirty="0" err="1"/>
              <a:t>adversarially</a:t>
            </a:r>
            <a:r>
              <a:rPr lang="en-US" dirty="0"/>
              <a:t> test AI systems to discover vulnerabilities, risks, and failure modes.</a:t>
            </a:r>
          </a:p>
        </p:txBody>
      </p:sp>
    </p:spTree>
    <p:extLst>
      <p:ext uri="{BB962C8B-B14F-4D97-AF65-F5344CB8AC3E}">
        <p14:creationId xmlns:p14="http://schemas.microsoft.com/office/powerpoint/2010/main" val="192862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1C7DD-335B-1034-8644-AFD79CFB4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OWASP ML Top 10 (2023)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8DE0D-E075-217A-A098-2D78BEE8B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ML01 – Input Manipulation Attack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slightly change the input (image, text, data) to trick the model into making a wrong decision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ML02 – Data Poisoning Attack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insert bad or fake data into the training dataset so the model learns incorrect behavior   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ML03 – Model Inversion Attack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Attackers query the model to extract sensitive information about the data it was trained on</a:t>
            </a:r>
          </a:p>
        </p:txBody>
      </p:sp>
    </p:spTree>
    <p:extLst>
      <p:ext uri="{BB962C8B-B14F-4D97-AF65-F5344CB8AC3E}">
        <p14:creationId xmlns:p14="http://schemas.microsoft.com/office/powerpoint/2010/main" val="1098436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CCF6F-0AA0-6AA0-9445-BF38036B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ML Top 10 (2023)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4BFCB-F903-4548-6C16-EB75814CE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ML04 – Membership Inference Attack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determine whether a specific person’s data was used in the model’s training set   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ML05 – Model Theft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copy or recreate the model by sending many queries and analyzing the outputs  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ML06 – ML Supply Chain Attacks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compromise third-party models, libraries, datasets, or tools used in building the ML system </a:t>
            </a:r>
          </a:p>
        </p:txBody>
      </p:sp>
    </p:spTree>
    <p:extLst>
      <p:ext uri="{BB962C8B-B14F-4D97-AF65-F5344CB8AC3E}">
        <p14:creationId xmlns:p14="http://schemas.microsoft.com/office/powerpoint/2010/main" val="1322983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85C4-4015-D313-9F18-42AEF03A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ML Top 10 (2023)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70B5-A01F-1C09-CAA0-2E08B7DB2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ML07 – Transfer Learning Attack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manipulate pre-trained models so the fine-tuned model behaves maliciously or incorrectly   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ML08 – Model Skewing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influence the model’s behavior over time by feeding biased or targeted data 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ML09 – Output Integrity Attack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alter or misuse the model’s output causing wrong decisions or unsafe actions</a:t>
            </a:r>
          </a:p>
        </p:txBody>
      </p:sp>
    </p:spTree>
    <p:extLst>
      <p:ext uri="{BB962C8B-B14F-4D97-AF65-F5344CB8AC3E}">
        <p14:creationId xmlns:p14="http://schemas.microsoft.com/office/powerpoint/2010/main" val="2028479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2E91-8661-843A-8984-DD5772EE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OWASP ML Top 10 (2023)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4BD72-841D-41F0-1EC8-26E2B1AA7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05559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ML10 – Model Poisoning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directly modify model parameters or weights to insert backdoors or hidden behavior</a:t>
            </a:r>
          </a:p>
        </p:txBody>
      </p:sp>
    </p:spTree>
    <p:extLst>
      <p:ext uri="{BB962C8B-B14F-4D97-AF65-F5344CB8AC3E}">
        <p14:creationId xmlns:p14="http://schemas.microsoft.com/office/powerpoint/2010/main" val="876979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29A1-15DD-5A3B-E2F4-DD9ACC6F0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Classification</a:t>
            </a:r>
            <a:r>
              <a:rPr lang="en-US" dirty="0"/>
              <a:t> of the </a:t>
            </a:r>
            <a:r>
              <a:rPr lang="en-US" b="1" dirty="0"/>
              <a:t>OWASP Top 10 Machine Learning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4C75B5-C8DA-0D69-7FA4-CFE6B7FFD2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8574122"/>
              </p:ext>
            </p:extLst>
          </p:nvPr>
        </p:nvGraphicFramePr>
        <p:xfrm>
          <a:off x="416432" y="2213723"/>
          <a:ext cx="9870568" cy="3863467"/>
        </p:xfrm>
        <a:graphic>
          <a:graphicData uri="http://schemas.openxmlformats.org/drawingml/2006/table">
            <a:tbl>
              <a:tblPr/>
              <a:tblGrid>
                <a:gridCol w="4935284">
                  <a:extLst>
                    <a:ext uri="{9D8B030D-6E8A-4147-A177-3AD203B41FA5}">
                      <a16:colId xmlns:a16="http://schemas.microsoft.com/office/drawing/2014/main" val="3691018224"/>
                    </a:ext>
                  </a:extLst>
                </a:gridCol>
                <a:gridCol w="4935284">
                  <a:extLst>
                    <a:ext uri="{9D8B030D-6E8A-4147-A177-3AD203B41FA5}">
                      <a16:colId xmlns:a16="http://schemas.microsoft.com/office/drawing/2014/main" val="2712833200"/>
                    </a:ext>
                  </a:extLst>
                </a:gridCol>
              </a:tblGrid>
              <a:tr h="421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Vulnerabilities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243120"/>
                  </a:ext>
                </a:extLst>
              </a:tr>
              <a:tr h="1369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ML01: Input Manipulation Attack, 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ML02: Data Poisoning Attack,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ML07: Transfer Learning Attack, 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ML10: Model Poisoning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706645"/>
                  </a:ext>
                </a:extLst>
              </a:tr>
              <a:tr h="737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ML03: Model Inversion Attack, 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ML04: Membership Inference Attack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776727"/>
                  </a:ext>
                </a:extLst>
              </a:tr>
              <a:tr h="737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Integrity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ML05: Model Theft, 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ML08: Model Skewing,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ML09: Output Integrity Attack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18353"/>
                  </a:ext>
                </a:extLst>
              </a:tr>
              <a:tr h="421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 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ML06: ML Supply Chain 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961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595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56D3-2A31-901D-1B1C-69B21D7D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Top 10 vulnerability in LLM</a:t>
            </a:r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0418D8A-3298-82C7-C148-96EFE1F6E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303149"/>
              </p:ext>
            </p:extLst>
          </p:nvPr>
        </p:nvGraphicFramePr>
        <p:xfrm>
          <a:off x="677333" y="2198483"/>
          <a:ext cx="8673496" cy="3668916"/>
        </p:xfrm>
        <a:graphic>
          <a:graphicData uri="http://schemas.openxmlformats.org/drawingml/2006/table">
            <a:tbl>
              <a:tblPr/>
              <a:tblGrid>
                <a:gridCol w="4336748">
                  <a:extLst>
                    <a:ext uri="{9D8B030D-6E8A-4147-A177-3AD203B41FA5}">
                      <a16:colId xmlns:a16="http://schemas.microsoft.com/office/drawing/2014/main" val="3859772506"/>
                    </a:ext>
                  </a:extLst>
                </a:gridCol>
                <a:gridCol w="4336748">
                  <a:extLst>
                    <a:ext uri="{9D8B030D-6E8A-4147-A177-3AD203B41FA5}">
                      <a16:colId xmlns:a16="http://schemas.microsoft.com/office/drawing/2014/main" val="3333137148"/>
                    </a:ext>
                  </a:extLst>
                </a:gridCol>
              </a:tblGrid>
              <a:tr h="431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Means (Simplified)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862194"/>
                  </a:ext>
                </a:extLst>
              </a:tr>
              <a:tr h="107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LLM01: Prompt Injection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Malicious or unexpected prompts trick the model to break rules or reveal secrets.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314293"/>
                  </a:ext>
                </a:extLst>
              </a:tr>
              <a:tr h="107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LLM02: Sensitive Info Disclosure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model might leak private data, business secrets, or internal model info.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513591"/>
                  </a:ext>
                </a:extLst>
              </a:tr>
              <a:tr h="107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LLM03: Supply-Chain Risks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Third-party models, data, or libraries could be tampered with and compromise your system.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715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74209-2B4E-E188-FD6F-9F1A83A6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Top 10 vulnerability in LLM</a:t>
            </a:r>
            <a:endParaRPr lang="en-US" dirty="0"/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4CDD8E07-74B1-4787-42F1-EEB8D4690C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739494"/>
              </p:ext>
            </p:extLst>
          </p:nvPr>
        </p:nvGraphicFramePr>
        <p:xfrm>
          <a:off x="677334" y="2151678"/>
          <a:ext cx="8596668" cy="4096722"/>
        </p:xfrm>
        <a:graphic>
          <a:graphicData uri="http://schemas.openxmlformats.org/drawingml/2006/table">
            <a:tbl>
              <a:tblPr/>
              <a:tblGrid>
                <a:gridCol w="4298334">
                  <a:extLst>
                    <a:ext uri="{9D8B030D-6E8A-4147-A177-3AD203B41FA5}">
                      <a16:colId xmlns:a16="http://schemas.microsoft.com/office/drawing/2014/main" val="2605756650"/>
                    </a:ext>
                  </a:extLst>
                </a:gridCol>
                <a:gridCol w="4298334">
                  <a:extLst>
                    <a:ext uri="{9D8B030D-6E8A-4147-A177-3AD203B41FA5}">
                      <a16:colId xmlns:a16="http://schemas.microsoft.com/office/drawing/2014/main" val="2936946897"/>
                    </a:ext>
                  </a:extLst>
                </a:gridCol>
              </a:tblGrid>
              <a:tr h="481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47" marR="60647" marT="30324" marB="30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Means (Simplified)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47" marR="60647" marT="30324" marB="30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787502"/>
                  </a:ext>
                </a:extLst>
              </a:tr>
              <a:tr h="1205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LLM04: Data &amp; Model Poisoning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47" marR="60647" marT="30324" marB="30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 or malicious training data can make the model biased, incorrect, or have hidden backdoors.</a:t>
                      </a:r>
                    </a:p>
                  </a:txBody>
                  <a:tcPr marL="60647" marR="60647" marT="30324" marB="30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265749"/>
                  </a:ext>
                </a:extLst>
              </a:tr>
              <a:tr h="1205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LLM05: Improper Output Handling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47" marR="60647" marT="30324" marB="30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outputs directly (web pages, queries, code) can create attack opportunities.</a:t>
                      </a:r>
                    </a:p>
                  </a:txBody>
                  <a:tcPr marL="60647" marR="60647" marT="30324" marB="30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242056"/>
                  </a:ext>
                </a:extLst>
              </a:tr>
              <a:tr h="12050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LLM06: Excessive Agency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47" marR="60647" marT="30324" marB="30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Giving the model too much power can let it perform harmful actions without human oversight.</a:t>
                      </a:r>
                    </a:p>
                  </a:txBody>
                  <a:tcPr marL="60647" marR="60647" marT="30324" marB="303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35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698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2DF4-76AD-2144-B0E8-94E391B52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Top 10 vulnerability in LLM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FC9EFB4-9693-284D-E4B7-9167205CB7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555990"/>
              </p:ext>
            </p:extLst>
          </p:nvPr>
        </p:nvGraphicFramePr>
        <p:xfrm>
          <a:off x="677334" y="2256653"/>
          <a:ext cx="8596668" cy="3666270"/>
        </p:xfrm>
        <a:graphic>
          <a:graphicData uri="http://schemas.openxmlformats.org/drawingml/2006/table">
            <a:tbl>
              <a:tblPr/>
              <a:tblGrid>
                <a:gridCol w="4298334">
                  <a:extLst>
                    <a:ext uri="{9D8B030D-6E8A-4147-A177-3AD203B41FA5}">
                      <a16:colId xmlns:a16="http://schemas.microsoft.com/office/drawing/2014/main" val="2094212204"/>
                    </a:ext>
                  </a:extLst>
                </a:gridCol>
                <a:gridCol w="4298334">
                  <a:extLst>
                    <a:ext uri="{9D8B030D-6E8A-4147-A177-3AD203B41FA5}">
                      <a16:colId xmlns:a16="http://schemas.microsoft.com/office/drawing/2014/main" val="1972349587"/>
                    </a:ext>
                  </a:extLst>
                </a:gridCol>
              </a:tblGrid>
              <a:tr h="360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Means (Simplified)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578120"/>
                  </a:ext>
                </a:extLst>
              </a:tr>
              <a:tr h="632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LLM07: System Prompt Leakage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instructions may leak, letting attackers bypass controls (system prompt).</a:t>
                      </a: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554420"/>
                  </a:ext>
                </a:extLst>
              </a:tr>
              <a:tr h="632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LLM08: Vector &amp; Embedding Weaknesses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Compromised embeddings or retrieval stores can inject false or harmful info (Retrieval Augmented Generation (RAG)) .</a:t>
                      </a: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548274"/>
                  </a:ext>
                </a:extLst>
              </a:tr>
              <a:tr h="905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LLM09: Misinformation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model can produce false, biased, or misleading outputs, causing real-world harm.</a:t>
                      </a: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156102"/>
                  </a:ext>
                </a:extLst>
              </a:tr>
              <a:tr h="905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LLM10: Unbounded Consumption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Unlimited access can overload the system, increase costs, or let attackers extract model behavior.</a:t>
                      </a:r>
                    </a:p>
                  </a:txBody>
                  <a:tcPr marL="39606" marR="39606" marT="19803" marB="19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575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304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B36F-8936-BC6B-0B00-C76E3A5AD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vulnerability in LLM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6F415E-B02F-5C73-AABA-21BFE0404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8493336"/>
              </p:ext>
            </p:extLst>
          </p:nvPr>
        </p:nvGraphicFramePr>
        <p:xfrm>
          <a:off x="677334" y="1930400"/>
          <a:ext cx="9038804" cy="4089873"/>
        </p:xfrm>
        <a:graphic>
          <a:graphicData uri="http://schemas.openxmlformats.org/drawingml/2006/table">
            <a:tbl>
              <a:tblPr/>
              <a:tblGrid>
                <a:gridCol w="4519402">
                  <a:extLst>
                    <a:ext uri="{9D8B030D-6E8A-4147-A177-3AD203B41FA5}">
                      <a16:colId xmlns:a16="http://schemas.microsoft.com/office/drawing/2014/main" val="2991729478"/>
                    </a:ext>
                  </a:extLst>
                </a:gridCol>
                <a:gridCol w="4519402">
                  <a:extLst>
                    <a:ext uri="{9D8B030D-6E8A-4147-A177-3AD203B41FA5}">
                      <a16:colId xmlns:a16="http://schemas.microsoft.com/office/drawing/2014/main" val="1533636851"/>
                    </a:ext>
                  </a:extLst>
                </a:gridCol>
              </a:tblGrid>
              <a:tr h="36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Vulnerability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419369"/>
                  </a:ext>
                </a:extLst>
              </a:tr>
              <a:tr h="636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Manipulation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LLM01: Prompt Injection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LLM09: Misinformation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313911"/>
                  </a:ext>
                </a:extLst>
              </a:tr>
              <a:tr h="636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&amp; Training Risks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LLM04: Data &amp; Model Poisoning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LLM03: Supply-Chain Risks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96885"/>
                  </a:ext>
                </a:extLst>
              </a:tr>
              <a:tr h="908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&amp; System Handling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LLM05: Improper Output Handling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LLM10: Unbounded Consumption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999252"/>
                  </a:ext>
                </a:extLst>
              </a:tr>
              <a:tr h="636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&amp; Permissions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LLM06: Excessive Agency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LLM07: System Prompt Leakage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917909"/>
                  </a:ext>
                </a:extLst>
              </a:tr>
              <a:tr h="908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&amp; Retrieval Risks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LLM02: Sensitive Information Disclosure</a:t>
                      </a:r>
                    </a:p>
                    <a:p>
                      <a:pPr>
                        <a:buNone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LLM08: Vector &amp; Embedding Weaknesses</a:t>
                      </a:r>
                    </a:p>
                  </a:txBody>
                  <a:tcPr marL="86254" marR="86254" marT="43127" marB="4312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129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861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8476-8C68-76F4-F201-8B802E31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hlinkClick r:id="rId2"/>
              </a:rPr>
              <a:t>ChatGPT Vulnerabilities &amp; AI Attacks (2025)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4080B-2B88-3EC9-814E-57EFB6E8E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vulnerabilities discovered in ChatGPT (GPT‑4o &amp; GPT‑5).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attackers to steal user data from chat history and memory.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impact: Data exposure, unintended AI 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598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4379-0AE2-D54A-FA62-62333329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Attack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CBE68-562F-5975-D873-092AD33C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&amp; prompt injection: Tricks AI into executing malicious instructions.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injection: Poisoning AI’s stored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bypass: Using trusted URLs or hidden content to hide malicious prompts.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injection: Malicious instructions embedded in web content or markdown.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584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5CC82-3044-0312-A44D-BF357B32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Broader AI Risks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29F1-605F-1DD8-C9AA-BE6FF75AB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AI systems also affected (Anthropic Claude, Microsoft 365 Copilot, GitHub Copilot).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Poisoned training data can backdoor AI models.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cannot reliably separate legitimate input from malicious content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226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C183B-E5A8-0DAD-7BA5-4786B8BCB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Takeaways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9615F-2A4A-8D66-6E9A-CAB949ECE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attacks are not just theoretical – real vulnerabilities exist.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injection and data poisoning are primary threats.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monitoring, testing, and safety controls are essential.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12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B7DC1-3EC4-5045-2354-D4B7BF2DE8B8}"/>
              </a:ext>
            </a:extLst>
          </p:cNvPr>
          <p:cNvSpPr txBox="1"/>
          <p:nvPr/>
        </p:nvSpPr>
        <p:spPr>
          <a:xfrm>
            <a:off x="2528207" y="2459504"/>
            <a:ext cx="6101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attention!!</a:t>
            </a:r>
          </a:p>
        </p:txBody>
      </p:sp>
    </p:spTree>
    <p:extLst>
      <p:ext uri="{BB962C8B-B14F-4D97-AF65-F5344CB8AC3E}">
        <p14:creationId xmlns:p14="http://schemas.microsoft.com/office/powerpoint/2010/main" val="26707157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3503</TotalTime>
  <Words>1336</Words>
  <Application>Microsoft Office PowerPoint</Application>
  <PresentationFormat>Widescreen</PresentationFormat>
  <Paragraphs>180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Times New Roman</vt:lpstr>
      <vt:lpstr>Trebuchet MS</vt:lpstr>
      <vt:lpstr>Wingdings 3</vt:lpstr>
      <vt:lpstr>Facet</vt:lpstr>
      <vt:lpstr>AI Security </vt:lpstr>
      <vt:lpstr>What is AI? </vt:lpstr>
      <vt:lpstr>How artificial intelligence, machine learning, deep learning and generative AI are related. </vt:lpstr>
      <vt:lpstr>What is Cyber Security ?</vt:lpstr>
      <vt:lpstr>What is AI security ?</vt:lpstr>
      <vt:lpstr>AI for cybersecurity </vt:lpstr>
      <vt:lpstr>AI for cybersecurity </vt:lpstr>
      <vt:lpstr>AI security</vt:lpstr>
      <vt:lpstr>Why AI Security Matters?</vt:lpstr>
      <vt:lpstr>Key Concepts in AI Security</vt:lpstr>
      <vt:lpstr>Best Practices for Securing AI Systems </vt:lpstr>
      <vt:lpstr>Best Practices for Securing AI Systems </vt:lpstr>
      <vt:lpstr>What is AI Red Teaming?</vt:lpstr>
      <vt:lpstr>AI Red Teaming Process</vt:lpstr>
      <vt:lpstr>Core Relationship between AI Security &amp; AI Red Teaming</vt:lpstr>
      <vt:lpstr>Simple Comparison</vt:lpstr>
      <vt:lpstr>AI red teaming activity </vt:lpstr>
      <vt:lpstr>OWASP ML Top 10 (2023)</vt:lpstr>
      <vt:lpstr>OWASP ML Top 10 (2023)</vt:lpstr>
      <vt:lpstr>OWASP ML Top 10 (2023)</vt:lpstr>
      <vt:lpstr>OWASP ML Top 10 (2023)</vt:lpstr>
      <vt:lpstr>Classification of the OWASP Top 10 Machine Learning</vt:lpstr>
      <vt:lpstr>Top 10 vulnerability in LLM</vt:lpstr>
      <vt:lpstr>Top 10 vulnerability in LLM</vt:lpstr>
      <vt:lpstr>Top 10 vulnerability in LLM</vt:lpstr>
      <vt:lpstr>Top 10 vulnerability in LLM</vt:lpstr>
      <vt:lpstr>ChatGPT Vulnerabilities &amp; AI Attacks (2025)</vt:lpstr>
      <vt:lpstr>Major Attack Techniques</vt:lpstr>
      <vt:lpstr>Broader AI Risks </vt:lpstr>
      <vt:lpstr>Takeaways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Almir</dc:creator>
  <cp:lastModifiedBy>khaled Almir</cp:lastModifiedBy>
  <cp:revision>17</cp:revision>
  <dcterms:created xsi:type="dcterms:W3CDTF">2025-11-09T19:36:20Z</dcterms:created>
  <dcterms:modified xsi:type="dcterms:W3CDTF">2025-12-14T20:23:20Z</dcterms:modified>
</cp:coreProperties>
</file>