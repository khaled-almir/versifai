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C7F4E0-091A-4415-91C5-B580B104876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9597C4-6DE0-4807-A365-0510CBDFEA97}">
      <dgm:prSet phldrT="[Text]" phldr="0"/>
      <dgm:spPr/>
      <dgm:t>
        <a:bodyPr/>
        <a:lstStyle/>
        <a:p>
          <a:r>
            <a:rPr lang="en-US" dirty="0"/>
            <a:t>Data</a:t>
          </a:r>
        </a:p>
      </dgm:t>
    </dgm:pt>
    <dgm:pt modelId="{EB3BC8EC-7C81-4F48-A21D-53689C5EFEA3}" type="parTrans" cxnId="{CAF18F0B-8F16-446C-A704-E31F0C2A25F3}">
      <dgm:prSet/>
      <dgm:spPr/>
      <dgm:t>
        <a:bodyPr/>
        <a:lstStyle/>
        <a:p>
          <a:endParaRPr lang="en-US"/>
        </a:p>
      </dgm:t>
    </dgm:pt>
    <dgm:pt modelId="{28A13E0B-9060-42B2-89E4-3046B39BB21D}" type="sibTrans" cxnId="{CAF18F0B-8F16-446C-A704-E31F0C2A25F3}">
      <dgm:prSet/>
      <dgm:spPr/>
      <dgm:t>
        <a:bodyPr/>
        <a:lstStyle/>
        <a:p>
          <a:endParaRPr lang="en-US"/>
        </a:p>
      </dgm:t>
    </dgm:pt>
    <dgm:pt modelId="{9FBD46C9-7968-4EF8-BCC6-E044789EACD4}">
      <dgm:prSet phldrT="[Text]" phldr="0"/>
      <dgm:spPr/>
      <dgm:t>
        <a:bodyPr/>
        <a:lstStyle/>
        <a:p>
          <a:r>
            <a:rPr lang="en-US" dirty="0"/>
            <a:t>Numerical </a:t>
          </a:r>
        </a:p>
      </dgm:t>
    </dgm:pt>
    <dgm:pt modelId="{E65C8FAF-58B4-4CAE-8790-3B3988D9E9FA}" type="parTrans" cxnId="{1042B388-0829-4040-9BFF-FBED5F980F25}">
      <dgm:prSet/>
      <dgm:spPr/>
      <dgm:t>
        <a:bodyPr/>
        <a:lstStyle/>
        <a:p>
          <a:endParaRPr lang="en-US"/>
        </a:p>
      </dgm:t>
    </dgm:pt>
    <dgm:pt modelId="{2DF97F11-A1CE-4358-BC0D-11F8363514F7}" type="sibTrans" cxnId="{1042B388-0829-4040-9BFF-FBED5F980F25}">
      <dgm:prSet/>
      <dgm:spPr/>
      <dgm:t>
        <a:bodyPr/>
        <a:lstStyle/>
        <a:p>
          <a:endParaRPr lang="en-US"/>
        </a:p>
      </dgm:t>
    </dgm:pt>
    <dgm:pt modelId="{1998D98A-852A-47F5-82E2-29A79A6E89AD}">
      <dgm:prSet phldrT="[Text]" phldr="0"/>
      <dgm:spPr/>
      <dgm:t>
        <a:bodyPr/>
        <a:lstStyle/>
        <a:p>
          <a:r>
            <a:rPr lang="en-US" dirty="0"/>
            <a:t>Categorical</a:t>
          </a:r>
        </a:p>
      </dgm:t>
    </dgm:pt>
    <dgm:pt modelId="{80086784-9AF5-4ECE-8943-7B07F6FC0B32}" type="parTrans" cxnId="{6226FA10-B5EE-469B-94ED-0D04B08357AB}">
      <dgm:prSet/>
      <dgm:spPr/>
      <dgm:t>
        <a:bodyPr/>
        <a:lstStyle/>
        <a:p>
          <a:endParaRPr lang="en-US"/>
        </a:p>
      </dgm:t>
    </dgm:pt>
    <dgm:pt modelId="{B52680D3-3AE3-4490-AA2A-5200CF238138}" type="sibTrans" cxnId="{6226FA10-B5EE-469B-94ED-0D04B08357AB}">
      <dgm:prSet/>
      <dgm:spPr/>
      <dgm:t>
        <a:bodyPr/>
        <a:lstStyle/>
        <a:p>
          <a:endParaRPr lang="en-US"/>
        </a:p>
      </dgm:t>
    </dgm:pt>
    <dgm:pt modelId="{CD201B7B-A86A-49F2-B8DD-FA68E839DD5C}" type="pres">
      <dgm:prSet presAssocID="{5EC7F4E0-091A-4415-91C5-B580B104876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ECE8300-8443-4A9A-A5FD-A58A8E11179F}" type="pres">
      <dgm:prSet presAssocID="{439597C4-6DE0-4807-A365-0510CBDFEA97}" presName="root1" presStyleCnt="0"/>
      <dgm:spPr/>
    </dgm:pt>
    <dgm:pt modelId="{98931FE6-F392-4D82-845F-005943F09537}" type="pres">
      <dgm:prSet presAssocID="{439597C4-6DE0-4807-A365-0510CBDFEA97}" presName="LevelOneTextNode" presStyleLbl="node0" presStyleIdx="0" presStyleCnt="1">
        <dgm:presLayoutVars>
          <dgm:chPref val="3"/>
        </dgm:presLayoutVars>
      </dgm:prSet>
      <dgm:spPr/>
    </dgm:pt>
    <dgm:pt modelId="{5ADFA4C9-05B4-42A4-B4C1-B451AF6A69DF}" type="pres">
      <dgm:prSet presAssocID="{439597C4-6DE0-4807-A365-0510CBDFEA97}" presName="level2hierChild" presStyleCnt="0"/>
      <dgm:spPr/>
    </dgm:pt>
    <dgm:pt modelId="{71998339-9B71-43EE-9676-42703B3A5529}" type="pres">
      <dgm:prSet presAssocID="{E65C8FAF-58B4-4CAE-8790-3B3988D9E9FA}" presName="conn2-1" presStyleLbl="parChTrans1D2" presStyleIdx="0" presStyleCnt="2"/>
      <dgm:spPr/>
    </dgm:pt>
    <dgm:pt modelId="{E5D237B0-C292-4513-AA9E-096BECBD9AFE}" type="pres">
      <dgm:prSet presAssocID="{E65C8FAF-58B4-4CAE-8790-3B3988D9E9FA}" presName="connTx" presStyleLbl="parChTrans1D2" presStyleIdx="0" presStyleCnt="2"/>
      <dgm:spPr/>
    </dgm:pt>
    <dgm:pt modelId="{6BC0381E-FB98-45EA-9DFD-1D99098EB42F}" type="pres">
      <dgm:prSet presAssocID="{9FBD46C9-7968-4EF8-BCC6-E044789EACD4}" presName="root2" presStyleCnt="0"/>
      <dgm:spPr/>
    </dgm:pt>
    <dgm:pt modelId="{47C95AA6-9077-40FB-AA75-ADC413E9F8C8}" type="pres">
      <dgm:prSet presAssocID="{9FBD46C9-7968-4EF8-BCC6-E044789EACD4}" presName="LevelTwoTextNode" presStyleLbl="node2" presStyleIdx="0" presStyleCnt="2">
        <dgm:presLayoutVars>
          <dgm:chPref val="3"/>
        </dgm:presLayoutVars>
      </dgm:prSet>
      <dgm:spPr/>
    </dgm:pt>
    <dgm:pt modelId="{E062B376-B980-49AC-8038-D4584C870035}" type="pres">
      <dgm:prSet presAssocID="{9FBD46C9-7968-4EF8-BCC6-E044789EACD4}" presName="level3hierChild" presStyleCnt="0"/>
      <dgm:spPr/>
    </dgm:pt>
    <dgm:pt modelId="{36C9F547-7138-4A12-9BC1-B22758E8AC4D}" type="pres">
      <dgm:prSet presAssocID="{80086784-9AF5-4ECE-8943-7B07F6FC0B32}" presName="conn2-1" presStyleLbl="parChTrans1D2" presStyleIdx="1" presStyleCnt="2"/>
      <dgm:spPr/>
    </dgm:pt>
    <dgm:pt modelId="{ADB1D684-F53F-41D2-8094-BDC10D942847}" type="pres">
      <dgm:prSet presAssocID="{80086784-9AF5-4ECE-8943-7B07F6FC0B32}" presName="connTx" presStyleLbl="parChTrans1D2" presStyleIdx="1" presStyleCnt="2"/>
      <dgm:spPr/>
    </dgm:pt>
    <dgm:pt modelId="{7FECA30E-DB6E-4F8E-86E0-F878E23BFA18}" type="pres">
      <dgm:prSet presAssocID="{1998D98A-852A-47F5-82E2-29A79A6E89AD}" presName="root2" presStyleCnt="0"/>
      <dgm:spPr/>
    </dgm:pt>
    <dgm:pt modelId="{F2A1F84F-1493-4739-ACCE-76A4D9BF5022}" type="pres">
      <dgm:prSet presAssocID="{1998D98A-852A-47F5-82E2-29A79A6E89AD}" presName="LevelTwoTextNode" presStyleLbl="node2" presStyleIdx="1" presStyleCnt="2">
        <dgm:presLayoutVars>
          <dgm:chPref val="3"/>
        </dgm:presLayoutVars>
      </dgm:prSet>
      <dgm:spPr/>
    </dgm:pt>
    <dgm:pt modelId="{B3ABBE82-8A74-47B7-B3E3-D627791C4027}" type="pres">
      <dgm:prSet presAssocID="{1998D98A-852A-47F5-82E2-29A79A6E89AD}" presName="level3hierChild" presStyleCnt="0"/>
      <dgm:spPr/>
    </dgm:pt>
  </dgm:ptLst>
  <dgm:cxnLst>
    <dgm:cxn modelId="{CAF18F0B-8F16-446C-A704-E31F0C2A25F3}" srcId="{5EC7F4E0-091A-4415-91C5-B580B104876D}" destId="{439597C4-6DE0-4807-A365-0510CBDFEA97}" srcOrd="0" destOrd="0" parTransId="{EB3BC8EC-7C81-4F48-A21D-53689C5EFEA3}" sibTransId="{28A13E0B-9060-42B2-89E4-3046B39BB21D}"/>
    <dgm:cxn modelId="{6226FA10-B5EE-469B-94ED-0D04B08357AB}" srcId="{439597C4-6DE0-4807-A365-0510CBDFEA97}" destId="{1998D98A-852A-47F5-82E2-29A79A6E89AD}" srcOrd="1" destOrd="0" parTransId="{80086784-9AF5-4ECE-8943-7B07F6FC0B32}" sibTransId="{B52680D3-3AE3-4490-AA2A-5200CF238138}"/>
    <dgm:cxn modelId="{621A7212-BEC4-4C8E-AA56-8D26890A6083}" type="presOf" srcId="{5EC7F4E0-091A-4415-91C5-B580B104876D}" destId="{CD201B7B-A86A-49F2-B8DD-FA68E839DD5C}" srcOrd="0" destOrd="0" presId="urn:microsoft.com/office/officeart/2005/8/layout/hierarchy2"/>
    <dgm:cxn modelId="{00C2922C-EB01-4E8C-AE07-4C59459E4720}" type="presOf" srcId="{1998D98A-852A-47F5-82E2-29A79A6E89AD}" destId="{F2A1F84F-1493-4739-ACCE-76A4D9BF5022}" srcOrd="0" destOrd="0" presId="urn:microsoft.com/office/officeart/2005/8/layout/hierarchy2"/>
    <dgm:cxn modelId="{5BE19D6E-3DFE-447B-B28D-3D090D179834}" type="presOf" srcId="{80086784-9AF5-4ECE-8943-7B07F6FC0B32}" destId="{ADB1D684-F53F-41D2-8094-BDC10D942847}" srcOrd="1" destOrd="0" presId="urn:microsoft.com/office/officeart/2005/8/layout/hierarchy2"/>
    <dgm:cxn modelId="{92467553-36CA-457B-8A19-CE30EA41271C}" type="presOf" srcId="{80086784-9AF5-4ECE-8943-7B07F6FC0B32}" destId="{36C9F547-7138-4A12-9BC1-B22758E8AC4D}" srcOrd="0" destOrd="0" presId="urn:microsoft.com/office/officeart/2005/8/layout/hierarchy2"/>
    <dgm:cxn modelId="{DC563D58-4D84-4ACC-BD1B-293EEA5E9A1D}" type="presOf" srcId="{439597C4-6DE0-4807-A365-0510CBDFEA97}" destId="{98931FE6-F392-4D82-845F-005943F09537}" srcOrd="0" destOrd="0" presId="urn:microsoft.com/office/officeart/2005/8/layout/hierarchy2"/>
    <dgm:cxn modelId="{9BCAA682-3B80-4016-AEA4-10E9A129D9DE}" type="presOf" srcId="{9FBD46C9-7968-4EF8-BCC6-E044789EACD4}" destId="{47C95AA6-9077-40FB-AA75-ADC413E9F8C8}" srcOrd="0" destOrd="0" presId="urn:microsoft.com/office/officeart/2005/8/layout/hierarchy2"/>
    <dgm:cxn modelId="{18AE5D86-D5C4-476C-A240-A90286B9CD9D}" type="presOf" srcId="{E65C8FAF-58B4-4CAE-8790-3B3988D9E9FA}" destId="{E5D237B0-C292-4513-AA9E-096BECBD9AFE}" srcOrd="1" destOrd="0" presId="urn:microsoft.com/office/officeart/2005/8/layout/hierarchy2"/>
    <dgm:cxn modelId="{1042B388-0829-4040-9BFF-FBED5F980F25}" srcId="{439597C4-6DE0-4807-A365-0510CBDFEA97}" destId="{9FBD46C9-7968-4EF8-BCC6-E044789EACD4}" srcOrd="0" destOrd="0" parTransId="{E65C8FAF-58B4-4CAE-8790-3B3988D9E9FA}" sibTransId="{2DF97F11-A1CE-4358-BC0D-11F8363514F7}"/>
    <dgm:cxn modelId="{BB2905DE-6A94-4F8D-B76D-838014E5F329}" type="presOf" srcId="{E65C8FAF-58B4-4CAE-8790-3B3988D9E9FA}" destId="{71998339-9B71-43EE-9676-42703B3A5529}" srcOrd="0" destOrd="0" presId="urn:microsoft.com/office/officeart/2005/8/layout/hierarchy2"/>
    <dgm:cxn modelId="{F60E9AEB-5C6C-48F7-ADA3-CEA54CC96A1E}" type="presParOf" srcId="{CD201B7B-A86A-49F2-B8DD-FA68E839DD5C}" destId="{6ECE8300-8443-4A9A-A5FD-A58A8E11179F}" srcOrd="0" destOrd="0" presId="urn:microsoft.com/office/officeart/2005/8/layout/hierarchy2"/>
    <dgm:cxn modelId="{8726D3FD-0B03-442E-817B-FF106E5448D8}" type="presParOf" srcId="{6ECE8300-8443-4A9A-A5FD-A58A8E11179F}" destId="{98931FE6-F392-4D82-845F-005943F09537}" srcOrd="0" destOrd="0" presId="urn:microsoft.com/office/officeart/2005/8/layout/hierarchy2"/>
    <dgm:cxn modelId="{4745E115-8C6F-484B-950E-23A77D636509}" type="presParOf" srcId="{6ECE8300-8443-4A9A-A5FD-A58A8E11179F}" destId="{5ADFA4C9-05B4-42A4-B4C1-B451AF6A69DF}" srcOrd="1" destOrd="0" presId="urn:microsoft.com/office/officeart/2005/8/layout/hierarchy2"/>
    <dgm:cxn modelId="{87A87E52-060C-47A4-AF93-5461CBC1C066}" type="presParOf" srcId="{5ADFA4C9-05B4-42A4-B4C1-B451AF6A69DF}" destId="{71998339-9B71-43EE-9676-42703B3A5529}" srcOrd="0" destOrd="0" presId="urn:microsoft.com/office/officeart/2005/8/layout/hierarchy2"/>
    <dgm:cxn modelId="{726B7080-82EB-4265-ADCF-95F57A3B23C2}" type="presParOf" srcId="{71998339-9B71-43EE-9676-42703B3A5529}" destId="{E5D237B0-C292-4513-AA9E-096BECBD9AFE}" srcOrd="0" destOrd="0" presId="urn:microsoft.com/office/officeart/2005/8/layout/hierarchy2"/>
    <dgm:cxn modelId="{149A83D4-0DF8-405B-BCEC-C35FEB0FF52A}" type="presParOf" srcId="{5ADFA4C9-05B4-42A4-B4C1-B451AF6A69DF}" destId="{6BC0381E-FB98-45EA-9DFD-1D99098EB42F}" srcOrd="1" destOrd="0" presId="urn:microsoft.com/office/officeart/2005/8/layout/hierarchy2"/>
    <dgm:cxn modelId="{49F0049F-2FDF-4CB6-8944-CBC408E640F5}" type="presParOf" srcId="{6BC0381E-FB98-45EA-9DFD-1D99098EB42F}" destId="{47C95AA6-9077-40FB-AA75-ADC413E9F8C8}" srcOrd="0" destOrd="0" presId="urn:microsoft.com/office/officeart/2005/8/layout/hierarchy2"/>
    <dgm:cxn modelId="{D2568DBB-E3BA-4D88-87B7-633814F87967}" type="presParOf" srcId="{6BC0381E-FB98-45EA-9DFD-1D99098EB42F}" destId="{E062B376-B980-49AC-8038-D4584C870035}" srcOrd="1" destOrd="0" presId="urn:microsoft.com/office/officeart/2005/8/layout/hierarchy2"/>
    <dgm:cxn modelId="{733AF15F-43B6-420F-AE8C-9FA96554FF19}" type="presParOf" srcId="{5ADFA4C9-05B4-42A4-B4C1-B451AF6A69DF}" destId="{36C9F547-7138-4A12-9BC1-B22758E8AC4D}" srcOrd="2" destOrd="0" presId="urn:microsoft.com/office/officeart/2005/8/layout/hierarchy2"/>
    <dgm:cxn modelId="{0B482913-0B4B-4103-ABCC-A825A5CE18A6}" type="presParOf" srcId="{36C9F547-7138-4A12-9BC1-B22758E8AC4D}" destId="{ADB1D684-F53F-41D2-8094-BDC10D942847}" srcOrd="0" destOrd="0" presId="urn:microsoft.com/office/officeart/2005/8/layout/hierarchy2"/>
    <dgm:cxn modelId="{95514239-EA72-4AA4-89B7-26B8E0FF4C0F}" type="presParOf" srcId="{5ADFA4C9-05B4-42A4-B4C1-B451AF6A69DF}" destId="{7FECA30E-DB6E-4F8E-86E0-F878E23BFA18}" srcOrd="3" destOrd="0" presId="urn:microsoft.com/office/officeart/2005/8/layout/hierarchy2"/>
    <dgm:cxn modelId="{E86E9A7D-BE59-4711-951B-3E086BBC5FB8}" type="presParOf" srcId="{7FECA30E-DB6E-4F8E-86E0-F878E23BFA18}" destId="{F2A1F84F-1493-4739-ACCE-76A4D9BF5022}" srcOrd="0" destOrd="0" presId="urn:microsoft.com/office/officeart/2005/8/layout/hierarchy2"/>
    <dgm:cxn modelId="{74ABDB2B-F588-4E46-A038-810796A72C69}" type="presParOf" srcId="{7FECA30E-DB6E-4F8E-86E0-F878E23BFA18}" destId="{B3ABBE82-8A74-47B7-B3E3-D627791C402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880E80-D6BC-4037-9840-FB6FDCD5A3E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51BD99-2B52-4F3F-B88D-2BCCDC5752D4}">
      <dgm:prSet phldrT="[Text]"/>
      <dgm:spPr/>
      <dgm:t>
        <a:bodyPr/>
        <a:lstStyle/>
        <a:p>
          <a:r>
            <a:rPr lang="en-US" dirty="0"/>
            <a:t>Linear scaling</a:t>
          </a:r>
        </a:p>
      </dgm:t>
    </dgm:pt>
    <dgm:pt modelId="{4D24104D-08D0-48FF-946F-F786E4BA5A56}" type="parTrans" cxnId="{62DF7FE9-C2DD-4AE1-8D9C-EBC327A3D06E}">
      <dgm:prSet/>
      <dgm:spPr/>
      <dgm:t>
        <a:bodyPr/>
        <a:lstStyle/>
        <a:p>
          <a:endParaRPr lang="en-US"/>
        </a:p>
      </dgm:t>
    </dgm:pt>
    <dgm:pt modelId="{9ADE239F-D8AB-4386-9520-ED5A34F5B3E9}" type="sibTrans" cxnId="{62DF7FE9-C2DD-4AE1-8D9C-EBC327A3D06E}">
      <dgm:prSet/>
      <dgm:spPr/>
      <dgm:t>
        <a:bodyPr/>
        <a:lstStyle/>
        <a:p>
          <a:endParaRPr lang="en-US"/>
        </a:p>
      </dgm:t>
    </dgm:pt>
    <dgm:pt modelId="{C0D36BA9-278B-43C2-BA19-771A03BD1C57}">
      <dgm:prSet phldrT="[Text]"/>
      <dgm:spPr/>
      <dgm:t>
        <a:bodyPr/>
        <a:lstStyle/>
        <a:p>
          <a:r>
            <a:rPr lang="en-US" dirty="0"/>
            <a:t>Z-score Scaling</a:t>
          </a:r>
        </a:p>
      </dgm:t>
    </dgm:pt>
    <dgm:pt modelId="{0396D9BD-FE35-4B29-9F1D-8A01202BD8B3}" type="parTrans" cxnId="{F32A0B50-5D97-4418-945F-D6C2917C41FA}">
      <dgm:prSet/>
      <dgm:spPr/>
      <dgm:t>
        <a:bodyPr/>
        <a:lstStyle/>
        <a:p>
          <a:endParaRPr lang="en-US"/>
        </a:p>
      </dgm:t>
    </dgm:pt>
    <dgm:pt modelId="{09A02146-5CD0-4716-BA73-CC0E2C08A7C5}" type="sibTrans" cxnId="{F32A0B50-5D97-4418-945F-D6C2917C41FA}">
      <dgm:prSet/>
      <dgm:spPr/>
      <dgm:t>
        <a:bodyPr/>
        <a:lstStyle/>
        <a:p>
          <a:endParaRPr lang="en-US"/>
        </a:p>
      </dgm:t>
    </dgm:pt>
    <dgm:pt modelId="{380C754F-F8AF-42DB-BCC4-372329E56112}">
      <dgm:prSet phldrT="[Text]"/>
      <dgm:spPr/>
      <dgm:t>
        <a:bodyPr/>
        <a:lstStyle/>
        <a:p>
          <a:r>
            <a:rPr lang="en-US" dirty="0"/>
            <a:t>Log scaling</a:t>
          </a:r>
        </a:p>
      </dgm:t>
    </dgm:pt>
    <dgm:pt modelId="{858F9F76-A69E-43C5-B8A1-2A31A0D69C10}" type="parTrans" cxnId="{A54480BB-603C-4EE0-82DB-815B713FEB7F}">
      <dgm:prSet/>
      <dgm:spPr/>
      <dgm:t>
        <a:bodyPr/>
        <a:lstStyle/>
        <a:p>
          <a:endParaRPr lang="en-US"/>
        </a:p>
      </dgm:t>
    </dgm:pt>
    <dgm:pt modelId="{83D296CD-112E-43DA-95C0-65188DB9C8A1}" type="sibTrans" cxnId="{A54480BB-603C-4EE0-82DB-815B713FEB7F}">
      <dgm:prSet/>
      <dgm:spPr/>
      <dgm:t>
        <a:bodyPr/>
        <a:lstStyle/>
        <a:p>
          <a:endParaRPr lang="en-US"/>
        </a:p>
      </dgm:t>
    </dgm:pt>
    <dgm:pt modelId="{3D06F988-F423-4BE2-92DC-AC9EB13718C6}">
      <dgm:prSet phldrT="[Text]"/>
      <dgm:spPr/>
      <dgm:t>
        <a:bodyPr/>
        <a:lstStyle/>
        <a:p>
          <a:r>
            <a:rPr lang="en-US" dirty="0"/>
            <a:t>Clipping</a:t>
          </a:r>
        </a:p>
      </dgm:t>
    </dgm:pt>
    <dgm:pt modelId="{D26C697F-CCB9-4EE6-943E-D2382CB46BD0}" type="parTrans" cxnId="{ED3C8C29-AAF6-455B-A8EB-51F3F367897C}">
      <dgm:prSet/>
      <dgm:spPr/>
      <dgm:t>
        <a:bodyPr/>
        <a:lstStyle/>
        <a:p>
          <a:endParaRPr lang="en-US"/>
        </a:p>
      </dgm:t>
    </dgm:pt>
    <dgm:pt modelId="{A1C3EBAD-BE57-43F9-A65B-34DF84FA6CD5}" type="sibTrans" cxnId="{ED3C8C29-AAF6-455B-A8EB-51F3F367897C}">
      <dgm:prSet/>
      <dgm:spPr/>
      <dgm:t>
        <a:bodyPr/>
        <a:lstStyle/>
        <a:p>
          <a:endParaRPr lang="en-US"/>
        </a:p>
      </dgm:t>
    </dgm:pt>
    <dgm:pt modelId="{D8725A9B-BD5E-4A9A-9919-55870A050E81}" type="pres">
      <dgm:prSet presAssocID="{96880E80-D6BC-4037-9840-FB6FDCD5A3E1}" presName="linear" presStyleCnt="0">
        <dgm:presLayoutVars>
          <dgm:dir/>
          <dgm:animLvl val="lvl"/>
          <dgm:resizeHandles val="exact"/>
        </dgm:presLayoutVars>
      </dgm:prSet>
      <dgm:spPr/>
    </dgm:pt>
    <dgm:pt modelId="{65C86D40-2099-47B1-AD0C-C6DC05001772}" type="pres">
      <dgm:prSet presAssocID="{1A51BD99-2B52-4F3F-B88D-2BCCDC5752D4}" presName="parentLin" presStyleCnt="0"/>
      <dgm:spPr/>
    </dgm:pt>
    <dgm:pt modelId="{F282B17A-9854-4946-95AD-6267D42AA8CF}" type="pres">
      <dgm:prSet presAssocID="{1A51BD99-2B52-4F3F-B88D-2BCCDC5752D4}" presName="parentLeftMargin" presStyleLbl="node1" presStyleIdx="0" presStyleCnt="4"/>
      <dgm:spPr/>
    </dgm:pt>
    <dgm:pt modelId="{F0EFF6D3-E4B1-49EF-A634-CC62299A2A52}" type="pres">
      <dgm:prSet presAssocID="{1A51BD99-2B52-4F3F-B88D-2BCCDC5752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C707EE-852C-4FEC-A57F-4CC038DC2140}" type="pres">
      <dgm:prSet presAssocID="{1A51BD99-2B52-4F3F-B88D-2BCCDC5752D4}" presName="negativeSpace" presStyleCnt="0"/>
      <dgm:spPr/>
    </dgm:pt>
    <dgm:pt modelId="{99ADFE0B-8386-4EAF-92D0-F09187401E9C}" type="pres">
      <dgm:prSet presAssocID="{1A51BD99-2B52-4F3F-B88D-2BCCDC5752D4}" presName="childText" presStyleLbl="conFgAcc1" presStyleIdx="0" presStyleCnt="4">
        <dgm:presLayoutVars>
          <dgm:bulletEnabled val="1"/>
        </dgm:presLayoutVars>
      </dgm:prSet>
      <dgm:spPr/>
    </dgm:pt>
    <dgm:pt modelId="{0FE78FC3-D314-4BB5-982E-709DC685605C}" type="pres">
      <dgm:prSet presAssocID="{9ADE239F-D8AB-4386-9520-ED5A34F5B3E9}" presName="spaceBetweenRectangles" presStyleCnt="0"/>
      <dgm:spPr/>
    </dgm:pt>
    <dgm:pt modelId="{8D118E42-773B-47BD-B7A7-E08806370374}" type="pres">
      <dgm:prSet presAssocID="{C0D36BA9-278B-43C2-BA19-771A03BD1C57}" presName="parentLin" presStyleCnt="0"/>
      <dgm:spPr/>
    </dgm:pt>
    <dgm:pt modelId="{B4C9546A-73BA-447F-B7AD-57508490EF86}" type="pres">
      <dgm:prSet presAssocID="{C0D36BA9-278B-43C2-BA19-771A03BD1C57}" presName="parentLeftMargin" presStyleLbl="node1" presStyleIdx="0" presStyleCnt="4"/>
      <dgm:spPr/>
    </dgm:pt>
    <dgm:pt modelId="{3240FA4D-0D56-4E08-A42D-213AF32B5503}" type="pres">
      <dgm:prSet presAssocID="{C0D36BA9-278B-43C2-BA19-771A03BD1C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416CDE-29D3-44D3-BCA1-9622C680643B}" type="pres">
      <dgm:prSet presAssocID="{C0D36BA9-278B-43C2-BA19-771A03BD1C57}" presName="negativeSpace" presStyleCnt="0"/>
      <dgm:spPr/>
    </dgm:pt>
    <dgm:pt modelId="{5841DA63-6C4A-4AF1-8C59-E8C0EE2EB0D6}" type="pres">
      <dgm:prSet presAssocID="{C0D36BA9-278B-43C2-BA19-771A03BD1C57}" presName="childText" presStyleLbl="conFgAcc1" presStyleIdx="1" presStyleCnt="4">
        <dgm:presLayoutVars>
          <dgm:bulletEnabled val="1"/>
        </dgm:presLayoutVars>
      </dgm:prSet>
      <dgm:spPr/>
    </dgm:pt>
    <dgm:pt modelId="{1506983F-A285-428B-89EF-FA976C1A5F88}" type="pres">
      <dgm:prSet presAssocID="{09A02146-5CD0-4716-BA73-CC0E2C08A7C5}" presName="spaceBetweenRectangles" presStyleCnt="0"/>
      <dgm:spPr/>
    </dgm:pt>
    <dgm:pt modelId="{C08E878C-2143-4F3D-A03C-1A85140099A6}" type="pres">
      <dgm:prSet presAssocID="{380C754F-F8AF-42DB-BCC4-372329E56112}" presName="parentLin" presStyleCnt="0"/>
      <dgm:spPr/>
    </dgm:pt>
    <dgm:pt modelId="{39163039-FAC3-4EA3-80E6-92F738D1A33D}" type="pres">
      <dgm:prSet presAssocID="{380C754F-F8AF-42DB-BCC4-372329E56112}" presName="parentLeftMargin" presStyleLbl="node1" presStyleIdx="1" presStyleCnt="4"/>
      <dgm:spPr/>
    </dgm:pt>
    <dgm:pt modelId="{C24C05AC-DA02-40B3-A588-41B9596E9C5B}" type="pres">
      <dgm:prSet presAssocID="{380C754F-F8AF-42DB-BCC4-372329E561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9AD5C3-E722-4FCD-A36C-F73A88A70C48}" type="pres">
      <dgm:prSet presAssocID="{380C754F-F8AF-42DB-BCC4-372329E56112}" presName="negativeSpace" presStyleCnt="0"/>
      <dgm:spPr/>
    </dgm:pt>
    <dgm:pt modelId="{6D779415-B895-47A3-BD43-437E26BD2147}" type="pres">
      <dgm:prSet presAssocID="{380C754F-F8AF-42DB-BCC4-372329E56112}" presName="childText" presStyleLbl="conFgAcc1" presStyleIdx="2" presStyleCnt="4">
        <dgm:presLayoutVars>
          <dgm:bulletEnabled val="1"/>
        </dgm:presLayoutVars>
      </dgm:prSet>
      <dgm:spPr/>
    </dgm:pt>
    <dgm:pt modelId="{BA51043C-EE2F-4C82-9F00-82B4678CBBE9}" type="pres">
      <dgm:prSet presAssocID="{83D296CD-112E-43DA-95C0-65188DB9C8A1}" presName="spaceBetweenRectangles" presStyleCnt="0"/>
      <dgm:spPr/>
    </dgm:pt>
    <dgm:pt modelId="{6A6F91D3-8288-4BBC-B282-70CE3289AC2F}" type="pres">
      <dgm:prSet presAssocID="{3D06F988-F423-4BE2-92DC-AC9EB13718C6}" presName="parentLin" presStyleCnt="0"/>
      <dgm:spPr/>
    </dgm:pt>
    <dgm:pt modelId="{A3711F43-DD27-42E3-B03C-8A57AF4FE4F3}" type="pres">
      <dgm:prSet presAssocID="{3D06F988-F423-4BE2-92DC-AC9EB13718C6}" presName="parentLeftMargin" presStyleLbl="node1" presStyleIdx="2" presStyleCnt="4"/>
      <dgm:spPr/>
    </dgm:pt>
    <dgm:pt modelId="{636AD3D1-39B7-41D9-93BE-490B7B8D92B9}" type="pres">
      <dgm:prSet presAssocID="{3D06F988-F423-4BE2-92DC-AC9EB13718C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26CE5C2-9E3E-417A-AF0B-FA172A7F809B}" type="pres">
      <dgm:prSet presAssocID="{3D06F988-F423-4BE2-92DC-AC9EB13718C6}" presName="negativeSpace" presStyleCnt="0"/>
      <dgm:spPr/>
    </dgm:pt>
    <dgm:pt modelId="{6D883FA5-14AF-43CE-A939-8261AA3908CC}" type="pres">
      <dgm:prSet presAssocID="{3D06F988-F423-4BE2-92DC-AC9EB13718C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27D9B10-0044-4532-87CA-13BC5A0269B9}" type="presOf" srcId="{3D06F988-F423-4BE2-92DC-AC9EB13718C6}" destId="{A3711F43-DD27-42E3-B03C-8A57AF4FE4F3}" srcOrd="0" destOrd="0" presId="urn:microsoft.com/office/officeart/2005/8/layout/list1"/>
    <dgm:cxn modelId="{AF53B01A-6181-4155-AA71-080FEBEA02F7}" type="presOf" srcId="{96880E80-D6BC-4037-9840-FB6FDCD5A3E1}" destId="{D8725A9B-BD5E-4A9A-9919-55870A050E81}" srcOrd="0" destOrd="0" presId="urn:microsoft.com/office/officeart/2005/8/layout/list1"/>
    <dgm:cxn modelId="{ED3C8C29-AAF6-455B-A8EB-51F3F367897C}" srcId="{96880E80-D6BC-4037-9840-FB6FDCD5A3E1}" destId="{3D06F988-F423-4BE2-92DC-AC9EB13718C6}" srcOrd="3" destOrd="0" parTransId="{D26C697F-CCB9-4EE6-943E-D2382CB46BD0}" sibTransId="{A1C3EBAD-BE57-43F9-A65B-34DF84FA6CD5}"/>
    <dgm:cxn modelId="{73885B4A-F211-4998-86C0-65D9476058BA}" type="presOf" srcId="{380C754F-F8AF-42DB-BCC4-372329E56112}" destId="{C24C05AC-DA02-40B3-A588-41B9596E9C5B}" srcOrd="1" destOrd="0" presId="urn:microsoft.com/office/officeart/2005/8/layout/list1"/>
    <dgm:cxn modelId="{F32A0B50-5D97-4418-945F-D6C2917C41FA}" srcId="{96880E80-D6BC-4037-9840-FB6FDCD5A3E1}" destId="{C0D36BA9-278B-43C2-BA19-771A03BD1C57}" srcOrd="1" destOrd="0" parTransId="{0396D9BD-FE35-4B29-9F1D-8A01202BD8B3}" sibTransId="{09A02146-5CD0-4716-BA73-CC0E2C08A7C5}"/>
    <dgm:cxn modelId="{5A371173-69AC-4EAA-8006-956D55BDFBA7}" type="presOf" srcId="{380C754F-F8AF-42DB-BCC4-372329E56112}" destId="{39163039-FAC3-4EA3-80E6-92F738D1A33D}" srcOrd="0" destOrd="0" presId="urn:microsoft.com/office/officeart/2005/8/layout/list1"/>
    <dgm:cxn modelId="{BD95CF82-C830-4C85-8E25-A92EADA26126}" type="presOf" srcId="{3D06F988-F423-4BE2-92DC-AC9EB13718C6}" destId="{636AD3D1-39B7-41D9-93BE-490B7B8D92B9}" srcOrd="1" destOrd="0" presId="urn:microsoft.com/office/officeart/2005/8/layout/list1"/>
    <dgm:cxn modelId="{7F6ADD90-4F5A-4757-BACF-8D07A09E710A}" type="presOf" srcId="{1A51BD99-2B52-4F3F-B88D-2BCCDC5752D4}" destId="{F0EFF6D3-E4B1-49EF-A634-CC62299A2A52}" srcOrd="1" destOrd="0" presId="urn:microsoft.com/office/officeart/2005/8/layout/list1"/>
    <dgm:cxn modelId="{00B284A0-8788-4C78-981B-199E8E08D1C9}" type="presOf" srcId="{C0D36BA9-278B-43C2-BA19-771A03BD1C57}" destId="{B4C9546A-73BA-447F-B7AD-57508490EF86}" srcOrd="0" destOrd="0" presId="urn:microsoft.com/office/officeart/2005/8/layout/list1"/>
    <dgm:cxn modelId="{C00603A1-6033-4A58-8438-DD08F7739C33}" type="presOf" srcId="{C0D36BA9-278B-43C2-BA19-771A03BD1C57}" destId="{3240FA4D-0D56-4E08-A42D-213AF32B5503}" srcOrd="1" destOrd="0" presId="urn:microsoft.com/office/officeart/2005/8/layout/list1"/>
    <dgm:cxn modelId="{66BC49A3-BB89-44CD-9325-8D3A9DF5F602}" type="presOf" srcId="{1A51BD99-2B52-4F3F-B88D-2BCCDC5752D4}" destId="{F282B17A-9854-4946-95AD-6267D42AA8CF}" srcOrd="0" destOrd="0" presId="urn:microsoft.com/office/officeart/2005/8/layout/list1"/>
    <dgm:cxn modelId="{A54480BB-603C-4EE0-82DB-815B713FEB7F}" srcId="{96880E80-D6BC-4037-9840-FB6FDCD5A3E1}" destId="{380C754F-F8AF-42DB-BCC4-372329E56112}" srcOrd="2" destOrd="0" parTransId="{858F9F76-A69E-43C5-B8A1-2A31A0D69C10}" sibTransId="{83D296CD-112E-43DA-95C0-65188DB9C8A1}"/>
    <dgm:cxn modelId="{62DF7FE9-C2DD-4AE1-8D9C-EBC327A3D06E}" srcId="{96880E80-D6BC-4037-9840-FB6FDCD5A3E1}" destId="{1A51BD99-2B52-4F3F-B88D-2BCCDC5752D4}" srcOrd="0" destOrd="0" parTransId="{4D24104D-08D0-48FF-946F-F786E4BA5A56}" sibTransId="{9ADE239F-D8AB-4386-9520-ED5A34F5B3E9}"/>
    <dgm:cxn modelId="{1527C4D3-467C-4423-8362-9990F18E79AF}" type="presParOf" srcId="{D8725A9B-BD5E-4A9A-9919-55870A050E81}" destId="{65C86D40-2099-47B1-AD0C-C6DC05001772}" srcOrd="0" destOrd="0" presId="urn:microsoft.com/office/officeart/2005/8/layout/list1"/>
    <dgm:cxn modelId="{83C4AE92-E4D9-4EB1-9DEE-B320C5C2AE9D}" type="presParOf" srcId="{65C86D40-2099-47B1-AD0C-C6DC05001772}" destId="{F282B17A-9854-4946-95AD-6267D42AA8CF}" srcOrd="0" destOrd="0" presId="urn:microsoft.com/office/officeart/2005/8/layout/list1"/>
    <dgm:cxn modelId="{97C47CD0-83D0-4F1A-97AB-BA09F98CCC6D}" type="presParOf" srcId="{65C86D40-2099-47B1-AD0C-C6DC05001772}" destId="{F0EFF6D3-E4B1-49EF-A634-CC62299A2A52}" srcOrd="1" destOrd="0" presId="urn:microsoft.com/office/officeart/2005/8/layout/list1"/>
    <dgm:cxn modelId="{780D7154-C783-438D-A05F-DA75B1DAC749}" type="presParOf" srcId="{D8725A9B-BD5E-4A9A-9919-55870A050E81}" destId="{EAC707EE-852C-4FEC-A57F-4CC038DC2140}" srcOrd="1" destOrd="0" presId="urn:microsoft.com/office/officeart/2005/8/layout/list1"/>
    <dgm:cxn modelId="{87E22EB3-1E48-4D60-99BD-EF48E0E843D3}" type="presParOf" srcId="{D8725A9B-BD5E-4A9A-9919-55870A050E81}" destId="{99ADFE0B-8386-4EAF-92D0-F09187401E9C}" srcOrd="2" destOrd="0" presId="urn:microsoft.com/office/officeart/2005/8/layout/list1"/>
    <dgm:cxn modelId="{15CE5626-9ABE-4B9E-B029-9F61F8EAEC57}" type="presParOf" srcId="{D8725A9B-BD5E-4A9A-9919-55870A050E81}" destId="{0FE78FC3-D314-4BB5-982E-709DC685605C}" srcOrd="3" destOrd="0" presId="urn:microsoft.com/office/officeart/2005/8/layout/list1"/>
    <dgm:cxn modelId="{8F41E8DE-2A2C-4A90-8586-673255601FA6}" type="presParOf" srcId="{D8725A9B-BD5E-4A9A-9919-55870A050E81}" destId="{8D118E42-773B-47BD-B7A7-E08806370374}" srcOrd="4" destOrd="0" presId="urn:microsoft.com/office/officeart/2005/8/layout/list1"/>
    <dgm:cxn modelId="{28049107-42FD-4F7B-9CC6-F0646281EF5B}" type="presParOf" srcId="{8D118E42-773B-47BD-B7A7-E08806370374}" destId="{B4C9546A-73BA-447F-B7AD-57508490EF86}" srcOrd="0" destOrd="0" presId="urn:microsoft.com/office/officeart/2005/8/layout/list1"/>
    <dgm:cxn modelId="{BC7234D7-B4C2-48C9-934D-1A42B26B55FD}" type="presParOf" srcId="{8D118E42-773B-47BD-B7A7-E08806370374}" destId="{3240FA4D-0D56-4E08-A42D-213AF32B5503}" srcOrd="1" destOrd="0" presId="urn:microsoft.com/office/officeart/2005/8/layout/list1"/>
    <dgm:cxn modelId="{595B3A4F-6245-4B70-BC2F-C1581B340C92}" type="presParOf" srcId="{D8725A9B-BD5E-4A9A-9919-55870A050E81}" destId="{52416CDE-29D3-44D3-BCA1-9622C680643B}" srcOrd="5" destOrd="0" presId="urn:microsoft.com/office/officeart/2005/8/layout/list1"/>
    <dgm:cxn modelId="{D2DCB4BA-0F08-4477-A65B-50B0C6946BEE}" type="presParOf" srcId="{D8725A9B-BD5E-4A9A-9919-55870A050E81}" destId="{5841DA63-6C4A-4AF1-8C59-E8C0EE2EB0D6}" srcOrd="6" destOrd="0" presId="urn:microsoft.com/office/officeart/2005/8/layout/list1"/>
    <dgm:cxn modelId="{DD41D5C4-305E-4D44-A0FF-06A94D65905D}" type="presParOf" srcId="{D8725A9B-BD5E-4A9A-9919-55870A050E81}" destId="{1506983F-A285-428B-89EF-FA976C1A5F88}" srcOrd="7" destOrd="0" presId="urn:microsoft.com/office/officeart/2005/8/layout/list1"/>
    <dgm:cxn modelId="{523FE689-101F-41C0-965E-6E0AF52D43B1}" type="presParOf" srcId="{D8725A9B-BD5E-4A9A-9919-55870A050E81}" destId="{C08E878C-2143-4F3D-A03C-1A85140099A6}" srcOrd="8" destOrd="0" presId="urn:microsoft.com/office/officeart/2005/8/layout/list1"/>
    <dgm:cxn modelId="{CCA092E5-DC34-4288-9A05-70D3B6FB8F70}" type="presParOf" srcId="{C08E878C-2143-4F3D-A03C-1A85140099A6}" destId="{39163039-FAC3-4EA3-80E6-92F738D1A33D}" srcOrd="0" destOrd="0" presId="urn:microsoft.com/office/officeart/2005/8/layout/list1"/>
    <dgm:cxn modelId="{DB2EFA36-6419-45AD-B217-B1657C17DE55}" type="presParOf" srcId="{C08E878C-2143-4F3D-A03C-1A85140099A6}" destId="{C24C05AC-DA02-40B3-A588-41B9596E9C5B}" srcOrd="1" destOrd="0" presId="urn:microsoft.com/office/officeart/2005/8/layout/list1"/>
    <dgm:cxn modelId="{AB281C75-8BA0-4162-9CD5-DB5D4A7C07D5}" type="presParOf" srcId="{D8725A9B-BD5E-4A9A-9919-55870A050E81}" destId="{B99AD5C3-E722-4FCD-A36C-F73A88A70C48}" srcOrd="9" destOrd="0" presId="urn:microsoft.com/office/officeart/2005/8/layout/list1"/>
    <dgm:cxn modelId="{AF160832-576C-44BC-92EF-E96DB8611174}" type="presParOf" srcId="{D8725A9B-BD5E-4A9A-9919-55870A050E81}" destId="{6D779415-B895-47A3-BD43-437E26BD2147}" srcOrd="10" destOrd="0" presId="urn:microsoft.com/office/officeart/2005/8/layout/list1"/>
    <dgm:cxn modelId="{C9456CED-7E2B-4888-91E8-31B051EBC106}" type="presParOf" srcId="{D8725A9B-BD5E-4A9A-9919-55870A050E81}" destId="{BA51043C-EE2F-4C82-9F00-82B4678CBBE9}" srcOrd="11" destOrd="0" presId="urn:microsoft.com/office/officeart/2005/8/layout/list1"/>
    <dgm:cxn modelId="{B10433F6-2B52-43AE-99E6-7D20876020B2}" type="presParOf" srcId="{D8725A9B-BD5E-4A9A-9919-55870A050E81}" destId="{6A6F91D3-8288-4BBC-B282-70CE3289AC2F}" srcOrd="12" destOrd="0" presId="urn:microsoft.com/office/officeart/2005/8/layout/list1"/>
    <dgm:cxn modelId="{5C67C6D0-BB5F-4483-8D19-3E691DEEA081}" type="presParOf" srcId="{6A6F91D3-8288-4BBC-B282-70CE3289AC2F}" destId="{A3711F43-DD27-42E3-B03C-8A57AF4FE4F3}" srcOrd="0" destOrd="0" presId="urn:microsoft.com/office/officeart/2005/8/layout/list1"/>
    <dgm:cxn modelId="{0644C5D8-5558-4F35-9068-927DF55379FA}" type="presParOf" srcId="{6A6F91D3-8288-4BBC-B282-70CE3289AC2F}" destId="{636AD3D1-39B7-41D9-93BE-490B7B8D92B9}" srcOrd="1" destOrd="0" presId="urn:microsoft.com/office/officeart/2005/8/layout/list1"/>
    <dgm:cxn modelId="{F77239BC-1E2F-4826-9E3A-276D2EAE5756}" type="presParOf" srcId="{D8725A9B-BD5E-4A9A-9919-55870A050E81}" destId="{226CE5C2-9E3E-417A-AF0B-FA172A7F809B}" srcOrd="13" destOrd="0" presId="urn:microsoft.com/office/officeart/2005/8/layout/list1"/>
    <dgm:cxn modelId="{D1A16C5D-D32E-4B4F-B08B-A4A412887707}" type="presParOf" srcId="{D8725A9B-BD5E-4A9A-9919-55870A050E81}" destId="{6D883FA5-14AF-43CE-A939-8261AA3908C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31FE6-F392-4D82-845F-005943F09537}">
      <dsp:nvSpPr>
        <dsp:cNvPr id="0" name=""/>
        <dsp:cNvSpPr/>
      </dsp:nvSpPr>
      <dsp:spPr>
        <a:xfrm>
          <a:off x="4316" y="1046168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Data</a:t>
          </a:r>
        </a:p>
      </dsp:txBody>
      <dsp:txXfrm>
        <a:off x="56717" y="1098569"/>
        <a:ext cx="3473397" cy="1684297"/>
      </dsp:txXfrm>
    </dsp:sp>
    <dsp:sp modelId="{71998339-9B71-43EE-9676-42703B3A5529}">
      <dsp:nvSpPr>
        <dsp:cNvPr id="0" name=""/>
        <dsp:cNvSpPr/>
      </dsp:nvSpPr>
      <dsp:spPr>
        <a:xfrm rot="19457599">
          <a:off x="3416842" y="1384867"/>
          <a:ext cx="1762626" cy="82968"/>
        </a:xfrm>
        <a:custGeom>
          <a:avLst/>
          <a:gdLst/>
          <a:ahLst/>
          <a:cxnLst/>
          <a:rect l="0" t="0" r="0" b="0"/>
          <a:pathLst>
            <a:path>
              <a:moveTo>
                <a:pt x="0" y="41484"/>
              </a:moveTo>
              <a:lnTo>
                <a:pt x="1762626" y="414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254090" y="1382286"/>
        <a:ext cx="88131" cy="88131"/>
      </dsp:txXfrm>
    </dsp:sp>
    <dsp:sp modelId="{47C95AA6-9077-40FB-AA75-ADC413E9F8C8}">
      <dsp:nvSpPr>
        <dsp:cNvPr id="0" name=""/>
        <dsp:cNvSpPr/>
      </dsp:nvSpPr>
      <dsp:spPr>
        <a:xfrm>
          <a:off x="5013795" y="17436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Numerical </a:t>
          </a:r>
        </a:p>
      </dsp:txBody>
      <dsp:txXfrm>
        <a:off x="5066196" y="69837"/>
        <a:ext cx="3473397" cy="1684297"/>
      </dsp:txXfrm>
    </dsp:sp>
    <dsp:sp modelId="{36C9F547-7138-4A12-9BC1-B22758E8AC4D}">
      <dsp:nvSpPr>
        <dsp:cNvPr id="0" name=""/>
        <dsp:cNvSpPr/>
      </dsp:nvSpPr>
      <dsp:spPr>
        <a:xfrm rot="2142401">
          <a:off x="3416842" y="2413600"/>
          <a:ext cx="1762626" cy="82968"/>
        </a:xfrm>
        <a:custGeom>
          <a:avLst/>
          <a:gdLst/>
          <a:ahLst/>
          <a:cxnLst/>
          <a:rect l="0" t="0" r="0" b="0"/>
          <a:pathLst>
            <a:path>
              <a:moveTo>
                <a:pt x="0" y="41484"/>
              </a:moveTo>
              <a:lnTo>
                <a:pt x="1762626" y="414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254090" y="2411019"/>
        <a:ext cx="88131" cy="88131"/>
      </dsp:txXfrm>
    </dsp:sp>
    <dsp:sp modelId="{F2A1F84F-1493-4739-ACCE-76A4D9BF5022}">
      <dsp:nvSpPr>
        <dsp:cNvPr id="0" name=""/>
        <dsp:cNvSpPr/>
      </dsp:nvSpPr>
      <dsp:spPr>
        <a:xfrm>
          <a:off x="5013795" y="2074900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Categorical</a:t>
          </a:r>
        </a:p>
      </dsp:txBody>
      <dsp:txXfrm>
        <a:off x="5066196" y="2127301"/>
        <a:ext cx="3473397" cy="1684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DFE0B-8386-4EAF-92D0-F09187401E9C}">
      <dsp:nvSpPr>
        <dsp:cNvPr id="0" name=""/>
        <dsp:cNvSpPr/>
      </dsp:nvSpPr>
      <dsp:spPr>
        <a:xfrm>
          <a:off x="0" y="32899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FF6D3-E4B1-49EF-A634-CC62299A2A52}">
      <dsp:nvSpPr>
        <dsp:cNvPr id="0" name=""/>
        <dsp:cNvSpPr/>
      </dsp:nvSpPr>
      <dsp:spPr>
        <a:xfrm>
          <a:off x="429815" y="427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Linear scaling</a:t>
          </a:r>
        </a:p>
      </dsp:txBody>
      <dsp:txXfrm>
        <a:off x="461518" y="35981"/>
        <a:ext cx="5954012" cy="586034"/>
      </dsp:txXfrm>
    </dsp:sp>
    <dsp:sp modelId="{5841DA63-6C4A-4AF1-8C59-E8C0EE2EB0D6}">
      <dsp:nvSpPr>
        <dsp:cNvPr id="0" name=""/>
        <dsp:cNvSpPr/>
      </dsp:nvSpPr>
      <dsp:spPr>
        <a:xfrm>
          <a:off x="0" y="132691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0FA4D-0D56-4E08-A42D-213AF32B5503}">
      <dsp:nvSpPr>
        <dsp:cNvPr id="0" name=""/>
        <dsp:cNvSpPr/>
      </dsp:nvSpPr>
      <dsp:spPr>
        <a:xfrm>
          <a:off x="429815" y="100219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Z-score Scaling</a:t>
          </a:r>
        </a:p>
      </dsp:txBody>
      <dsp:txXfrm>
        <a:off x="461518" y="1033901"/>
        <a:ext cx="5954012" cy="586034"/>
      </dsp:txXfrm>
    </dsp:sp>
    <dsp:sp modelId="{6D779415-B895-47A3-BD43-437E26BD2147}">
      <dsp:nvSpPr>
        <dsp:cNvPr id="0" name=""/>
        <dsp:cNvSpPr/>
      </dsp:nvSpPr>
      <dsp:spPr>
        <a:xfrm>
          <a:off x="0" y="232483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C05AC-DA02-40B3-A588-41B9596E9C5B}">
      <dsp:nvSpPr>
        <dsp:cNvPr id="0" name=""/>
        <dsp:cNvSpPr/>
      </dsp:nvSpPr>
      <dsp:spPr>
        <a:xfrm>
          <a:off x="429815" y="200011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Log scaling</a:t>
          </a:r>
        </a:p>
      </dsp:txBody>
      <dsp:txXfrm>
        <a:off x="461518" y="2031821"/>
        <a:ext cx="5954012" cy="586034"/>
      </dsp:txXfrm>
    </dsp:sp>
    <dsp:sp modelId="{6D883FA5-14AF-43CE-A939-8261AA3908CC}">
      <dsp:nvSpPr>
        <dsp:cNvPr id="0" name=""/>
        <dsp:cNvSpPr/>
      </dsp:nvSpPr>
      <dsp:spPr>
        <a:xfrm>
          <a:off x="0" y="332275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AD3D1-39B7-41D9-93BE-490B7B8D92B9}">
      <dsp:nvSpPr>
        <dsp:cNvPr id="0" name=""/>
        <dsp:cNvSpPr/>
      </dsp:nvSpPr>
      <dsp:spPr>
        <a:xfrm>
          <a:off x="429815" y="299803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Clipping</a:t>
          </a:r>
        </a:p>
      </dsp:txBody>
      <dsp:txXfrm>
        <a:off x="461518" y="3029741"/>
        <a:ext cx="595401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3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1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8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1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2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6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8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1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5860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90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946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41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76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8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AE52-A196-4954-9B4B-37A110190FD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A77A-8AB7-3026-CEAC-9EB795F98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175934"/>
            <a:ext cx="7766936" cy="1253066"/>
          </a:xfrm>
        </p:spPr>
        <p:txBody>
          <a:bodyPr/>
          <a:lstStyle/>
          <a:p>
            <a:pPr algn="ctr"/>
            <a:r>
              <a:rPr lang="en-US" dirty="0"/>
              <a:t>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90168-DF2B-78BA-C356-E72837638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53E0C-7A04-CDE8-0F04-11CD14037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7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C781-7FAF-2B2F-D3B7-E102AEE7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data 	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C6CA48-FED7-C457-D645-17C684766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826735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276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8665-A3AD-F0B4-F84A-831AEC0A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numerical Data </a:t>
            </a:r>
            <a:br>
              <a:rPr lang="en-US" dirty="0"/>
            </a:br>
            <a:r>
              <a:rPr lang="en-US" dirty="0"/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8AB4A-86DE-6878-160E-5857747F1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334" y="1767114"/>
            <a:ext cx="9001238" cy="4568371"/>
          </a:xfrm>
        </p:spPr>
      </p:pic>
    </p:spTree>
    <p:extLst>
      <p:ext uri="{BB962C8B-B14F-4D97-AF65-F5344CB8AC3E}">
        <p14:creationId xmlns:p14="http://schemas.microsoft.com/office/powerpoint/2010/main" val="398970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5032-9379-3F87-10EA-04ED5AE8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model ingest the model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22A5E3-5A1F-2062-A09B-919618FC0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006" y="1807030"/>
            <a:ext cx="8670366" cy="4400444"/>
          </a:xfrm>
        </p:spPr>
      </p:pic>
    </p:spTree>
    <p:extLst>
      <p:ext uri="{BB962C8B-B14F-4D97-AF65-F5344CB8AC3E}">
        <p14:creationId xmlns:p14="http://schemas.microsoft.com/office/powerpoint/2010/main" val="229937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CDDC-AAF3-036E-F973-C6101768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02DE-9E5D-1D10-A429-05C2E758E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Crucial step in machine learning.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acts as an intermediary between the dataset and the model.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Binning (Bucketing)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85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6723-D7DF-80AF-8526-2D0434AF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19619-0C61-5614-5B84-107789179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evaluate the data (mean, median and standard deviation)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outliers</a:t>
            </a:r>
          </a:p>
        </p:txBody>
      </p:sp>
    </p:spTree>
    <p:extLst>
      <p:ext uri="{BB962C8B-B14F-4D97-AF65-F5344CB8AC3E}">
        <p14:creationId xmlns:p14="http://schemas.microsoft.com/office/powerpoint/2010/main" val="324124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C1C4-30D8-6A9B-C381-10C71F97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CFB1-8554-6032-A765-B2D29A48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your data in ways that will help your model train more effectively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normalization is to transform features to be on a similar scale.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 converge more quickly during training.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 infer better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 avoid the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trap“ when feature values are very high.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model _learn appropriate weights_ for each feature</a:t>
            </a:r>
          </a:p>
        </p:txBody>
      </p:sp>
    </p:spTree>
    <p:extLst>
      <p:ext uri="{BB962C8B-B14F-4D97-AF65-F5344CB8AC3E}">
        <p14:creationId xmlns:p14="http://schemas.microsoft.com/office/powerpoint/2010/main" val="2910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8EB8-BBBD-26CF-D816-2480B490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59E8-2EAF-F0E3-5C96-C37ECF47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Example:</a:t>
            </a:r>
            <a:endParaRPr lang="en-US" sz="2000" dirty="0"/>
          </a:p>
          <a:p>
            <a:r>
              <a:rPr lang="en-US" dirty="0"/>
              <a:t>X</a:t>
            </a:r>
            <a:r>
              <a:rPr lang="en-US" sz="2000" dirty="0"/>
              <a:t>: 154 → 24,917,482</a:t>
            </a:r>
          </a:p>
          <a:p>
            <a:r>
              <a:rPr lang="en-US" dirty="0"/>
              <a:t>Y</a:t>
            </a:r>
            <a:r>
              <a:rPr lang="en-US" sz="2000" dirty="0"/>
              <a:t>: 5 → 22</a:t>
            </a:r>
          </a:p>
          <a:p>
            <a:r>
              <a:rPr lang="en-US" sz="2000" dirty="0"/>
              <a:t> After normalization: both scaled to 0–1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119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7078-9774-8A05-E9AC-296A08A2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Normalization methods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549359C-7A08-8E37-A480-756F1402E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83912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392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860F-4094-B3E7-98D8-1F961AEF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scaling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BAC9-8BFD-E333-0F8E-F96768A2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floating-point values from their natural range into a standard range usually 0 to 1 or -1 to +1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x′=(x−x min)/(x max− x min)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x′= scaled value			    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original value			    	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min = minimum value of the feature			    	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max= maximum value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291417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8AAF-AFA7-26D8-BBED-6B3B70FA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10D2B-3945-7114-6E97-FC91D9B9A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Converts data to show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far each value is from the mean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measured in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Centers data around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= 0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 = 1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Z=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x−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μ​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original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mean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standard deviation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10D2B-3945-7114-6E97-FC91D9B9A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94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AFA8-A424-BA30-0C38-0749C578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scaling.</a:t>
            </a:r>
          </a:p>
        </p:txBody>
      </p:sp>
      <p:pic>
        <p:nvPicPr>
          <p:cNvPr id="4" name="Picture 3" descr="Figure 4. Two histograms: both showing normal distributions with&#10;           the identical distribution. The first histogram, which contains raw&#10;           data, has a mean of 200 and a standard deviation of 30. The second&#10;           histogram, which contains a Z-score version of the first&#10;           distribution, has a mean of 0 and a standard deviation of 1.">
            <a:extLst>
              <a:ext uri="{FF2B5EF4-FFF2-40B4-BE49-F238E27FC236}">
                <a16:creationId xmlns:a16="http://schemas.microsoft.com/office/drawing/2014/main" id="{EB5FB11B-F867-7239-CB20-F57A22861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754085"/>
            <a:ext cx="85725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9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61AD-1993-7E71-074A-B54E3760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scaling.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DDAE9A-CC5C-0935-BC77-8615F9ED9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284936"/>
              </p:ext>
            </p:extLst>
          </p:nvPr>
        </p:nvGraphicFramePr>
        <p:xfrm>
          <a:off x="677334" y="2405312"/>
          <a:ext cx="8596311" cy="23774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193009868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14700687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77115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of Data (approx.)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071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–1 to +1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Close to the 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68%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5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–2 to +2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Typical range (normal values)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95%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4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–3 to +3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Almost all data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99.7%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39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–4 or +4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 </a:t>
                      </a:r>
                      <a:r>
                        <a:rPr lang="en-US" b="1" dirty="0"/>
                        <a:t>outliers</a:t>
                      </a:r>
                      <a:r>
                        <a:rPr lang="en-US" dirty="0"/>
                        <a:t>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rare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67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81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2570-4699-B6AA-CD31-3D2436C6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A613-328F-9EDE-BCE4-24A6A94BF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Works best for power law distributions, where:</a:t>
            </a:r>
          </a:p>
          <a:p>
            <a:pPr lvl="1"/>
            <a:r>
              <a:rPr lang="en-US" sz="1800" dirty="0"/>
              <a:t>Small values are very common.</a:t>
            </a:r>
          </a:p>
          <a:p>
            <a:pPr lvl="1"/>
            <a:r>
              <a:rPr lang="en-US" sz="1800" dirty="0"/>
              <a:t>Large values are rare but extremely high.</a:t>
            </a:r>
          </a:p>
          <a:p>
            <a:r>
              <a:rPr lang="en-US" sz="2000" dirty="0"/>
              <a:t>Examples:</a:t>
            </a:r>
          </a:p>
          <a:p>
            <a:pPr lvl="1"/>
            <a:r>
              <a:rPr lang="en-US" sz="1800" dirty="0"/>
              <a:t>Movie ratings — few movies get many ratings.</a:t>
            </a:r>
          </a:p>
          <a:p>
            <a:pPr lvl="1"/>
            <a:r>
              <a:rPr lang="en-US" sz="1800" dirty="0"/>
              <a:t>Book sales — few bestsellers sell millions.</a:t>
            </a:r>
            <a:br>
              <a:rPr lang="en-US" sz="1800" dirty="0"/>
            </a:br>
            <a:endParaRPr lang="en-US" sz="2000" dirty="0"/>
          </a:p>
          <a:p>
            <a:pPr lvl="1"/>
            <a:endParaRPr lang="en-US" sz="1800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5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35CF-E37A-C7C0-B4E8-5DDC888B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868A-430B-83C7-83FC-B6D269282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It’s Useful:</a:t>
            </a:r>
            <a:endParaRPr lang="en-US" dirty="0"/>
          </a:p>
          <a:p>
            <a:pPr lvl="1"/>
            <a:r>
              <a:rPr lang="en-US" dirty="0"/>
              <a:t>Raw data with </a:t>
            </a:r>
            <a:r>
              <a:rPr lang="en-US" b="1" dirty="0"/>
              <a:t>huge value gaps</a:t>
            </a:r>
            <a:r>
              <a:rPr lang="en-US" dirty="0"/>
              <a:t> (e.g., 100 vs 1,000,000) is hard for models to learn.</a:t>
            </a:r>
          </a:p>
          <a:p>
            <a:pPr lvl="1"/>
            <a:r>
              <a:rPr lang="en-US" b="1" dirty="0"/>
              <a:t>Log scaling compresses</a:t>
            </a:r>
            <a:r>
              <a:rPr lang="en-US" dirty="0"/>
              <a:t> these differences, making the data </a:t>
            </a:r>
            <a:r>
              <a:rPr lang="en-US" b="1" dirty="0"/>
              <a:t>more balanced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ln(100) ≈ 4.6</a:t>
            </a:r>
          </a:p>
          <a:p>
            <a:pPr lvl="1"/>
            <a:r>
              <a:rPr lang="en-US" dirty="0"/>
              <a:t>ln(1,000,000) ≈ 13.8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5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5922-4AC6-B3C9-9929-B4F2C5B8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Scaling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35CC46-8BC0-61E3-180E-B387C12AF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429" y="1690914"/>
            <a:ext cx="8596668" cy="4437462"/>
          </a:xfrm>
        </p:spPr>
      </p:pic>
    </p:spTree>
    <p:extLst>
      <p:ext uri="{BB962C8B-B14F-4D97-AF65-F5344CB8AC3E}">
        <p14:creationId xmlns:p14="http://schemas.microsoft.com/office/powerpoint/2010/main" val="868996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FFE2-947A-4C7B-5514-32ED7A06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E5F4-D0D4-37B3-31A7-83B8C2064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Clipping </a:t>
            </a:r>
            <a:r>
              <a:rPr lang="en-US" b="1" dirty="0"/>
              <a:t>limits extreme values</a:t>
            </a:r>
            <a:r>
              <a:rPr lang="en-US" dirty="0"/>
              <a:t> in a dataset by setting </a:t>
            </a:r>
            <a:r>
              <a:rPr lang="en-US" b="1" dirty="0"/>
              <a:t>maximum and minimum caps</a:t>
            </a:r>
            <a:r>
              <a:rPr lang="en-US" dirty="0"/>
              <a:t>.</a:t>
            </a:r>
          </a:p>
          <a:p>
            <a:r>
              <a:rPr lang="en-US" dirty="0"/>
              <a:t>Helps reduce the </a:t>
            </a:r>
            <a:r>
              <a:rPr lang="en-US" b="1" dirty="0"/>
              <a:t>impact of outliers</a:t>
            </a:r>
            <a:r>
              <a:rPr lang="en-US" dirty="0"/>
              <a:t> on model training.</a:t>
            </a:r>
          </a:p>
          <a:p>
            <a:r>
              <a:rPr lang="en-US" b="1" dirty="0"/>
              <a:t>Useful:</a:t>
            </a:r>
          </a:p>
          <a:p>
            <a:pPr lvl="1"/>
            <a:r>
              <a:rPr lang="en-US" dirty="0"/>
              <a:t>Prevents outliers from </a:t>
            </a:r>
            <a:r>
              <a:rPr lang="en-US" b="1" dirty="0"/>
              <a:t>misleading the model</a:t>
            </a:r>
          </a:p>
          <a:p>
            <a:pPr lvl="1"/>
            <a:r>
              <a:rPr lang="en-US" dirty="0"/>
              <a:t>Focuses training on </a:t>
            </a:r>
            <a:r>
              <a:rPr lang="en-US" b="1" dirty="0"/>
              <a:t>normal, meaningful data</a:t>
            </a:r>
          </a:p>
          <a:p>
            <a:pPr lvl="1"/>
            <a:r>
              <a:rPr lang="en-US" dirty="0"/>
              <a:t>Improves </a:t>
            </a:r>
            <a:r>
              <a:rPr lang="en-US" b="1" dirty="0"/>
              <a:t>training stability and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8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716E-F457-1F61-2E12-52DF8023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303A-24B1-C44A-C5AC-9D94A134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roomsPerPerson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values: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→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outliers: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or 17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clipping: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4 →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 →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126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0C3A-778A-4205-BDA1-3F9A18DF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Binning (Bucketing)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F10D-70BF-FD5C-6712-CCAC76F6E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numerical ranges into smaller bins or buckets.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converts numerical data → categorical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Binning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non-linear or complex relationships.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noise and the effect of outliers.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clusters in data (when values group together).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there’s no clear linear correlation with the label.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253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2C06-898D-D124-44E1-6CDF62E5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Binning (Bucketing)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68FD0D-5321-CAE8-990D-69D3E2EED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130040"/>
              </p:ext>
            </p:extLst>
          </p:nvPr>
        </p:nvGraphicFramePr>
        <p:xfrm>
          <a:off x="677863" y="2394857"/>
          <a:ext cx="8596311" cy="3265716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28687825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809772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027473204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Bin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Range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 Vector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55848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15–34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[1.0, 0.0, 0.0, 0.0,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7101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35–117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[0.0, 1.0, 0.0, 0.0,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2698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118–279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[0.0, 0.0, 1.0, 0.0,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4086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280–392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[0.0, 0.0, 0.0, 1.0,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8199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393–425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[0.0, 0.0, 0.0, 0.0, 1.0]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026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135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BA93-65C8-F55E-1D76-AF0DECC5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B06645-20F3-9A30-C346-570C4ABF8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327463"/>
              </p:ext>
            </p:extLst>
          </p:nvPr>
        </p:nvGraphicFramePr>
        <p:xfrm>
          <a:off x="677691" y="2601255"/>
          <a:ext cx="8596311" cy="219456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91668479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948901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62368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Used When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535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Equal-Width Binning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bin covers the same numeric range.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is evenly spread (e.g., temperature ranges).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13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Quantile (Equal-Frequency) Binning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Each bin contains roughly the same number of examples.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is </a:t>
                      </a:r>
                      <a:r>
                        <a:rPr lang="en-US" b="1" dirty="0"/>
                        <a:t>skewed</a:t>
                      </a:r>
                      <a:r>
                        <a:rPr lang="en-US" dirty="0"/>
                        <a:t> or </a:t>
                      </a:r>
                      <a:r>
                        <a:rPr lang="en-US" b="1" dirty="0"/>
                        <a:t>unevenly distributed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41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783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7FEB-3297-35CE-0F9A-4CD33572D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Scrubbing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AB8A-31D3-6EF8-818C-46B04E2D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examples in datasets are unreliable due to one or more of the following problems: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Omitted values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examples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Out-of-range feature values.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labels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by 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Omitted values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examples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Out-of-range feature values</a:t>
            </a:r>
          </a:p>
        </p:txBody>
      </p:sp>
    </p:spTree>
    <p:extLst>
      <p:ext uri="{BB962C8B-B14F-4D97-AF65-F5344CB8AC3E}">
        <p14:creationId xmlns:p14="http://schemas.microsoft.com/office/powerpoint/2010/main" val="290845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8407-FA2A-E93C-71C4-598DB0AB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Polynomial transforms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A00E-AF5C-EC62-F36B-5433C6B0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synthetic feature is a new feature created from existing ones — often by raising a numerical feature to a power</a:t>
            </a:r>
          </a:p>
          <a:p>
            <a:r>
              <a:rPr lang="en-US" dirty="0"/>
              <a:t>This helps capture nonlinear relationships between features and labels while still using a linear model</a:t>
            </a:r>
          </a:p>
          <a:p>
            <a:r>
              <a:rPr lang="en-US" dirty="0"/>
              <a:t>Why It’s Useful:		</a:t>
            </a:r>
          </a:p>
          <a:p>
            <a:pPr lvl="1"/>
            <a:r>
              <a:rPr lang="en-US" dirty="0"/>
              <a:t>Some datasets can’t be separated by a straight line, but can be separated by a curve.	    	</a:t>
            </a:r>
          </a:p>
          <a:p>
            <a:pPr lvl="1"/>
            <a:r>
              <a:rPr lang="en-US" dirty="0"/>
              <a:t>By adding a polynomial term (like x^2), a linear model can draw curved decision boundaries without changing the training method (still uses gradient descent).	 </a:t>
            </a:r>
          </a:p>
        </p:txBody>
      </p:sp>
    </p:spTree>
    <p:extLst>
      <p:ext uri="{BB962C8B-B14F-4D97-AF65-F5344CB8AC3E}">
        <p14:creationId xmlns:p14="http://schemas.microsoft.com/office/powerpoint/2010/main" val="1017535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C3FA-82FA-DA85-20D0-9E64F934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Polynomial transforms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0D4AA1-B1EC-9882-BE07-8D0C23896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38" y="1779588"/>
            <a:ext cx="6200434" cy="4650327"/>
          </a:xfrm>
        </p:spPr>
      </p:pic>
    </p:spTree>
    <p:extLst>
      <p:ext uri="{BB962C8B-B14F-4D97-AF65-F5344CB8AC3E}">
        <p14:creationId xmlns:p14="http://schemas.microsoft.com/office/powerpoint/2010/main" val="2155286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30F5-832A-FDF9-D114-397C3674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categorical Data 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DC940-552A-6F52-B760-1D8F01BE6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fixed set of possible values (e.g., animal species, street names, colors, spam or not spam).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include numbers that represent categories, not real quantities.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Postal codes — numeric but not mathematically comparable.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 such numbers as categorical, not numerical.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4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2E3D-74A2-191B-5479-95868121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Encoding Categorical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E929E-8E25-D8EA-6C63-BF68C438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require numeric input.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converts categorical/text data into numerical form.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models to learn from values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"dog"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"maple"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methods: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– creates a new column for each category.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– assigns a number to each category.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3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1BE0-D8B8-B8F3-6917-47F977C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Categorical Feature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18F8-8414-ADB8-C19E-D12911220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= number of elements in a feature vector.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Low-dimensional features have few categories: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snowed_today: True / False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skill_level: Beginner / Practitioner / Expert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season: Winter / Spring / Summer / Autumn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use Vocabulary Encoding → each category gets its own feature weight.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1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9EF7-F355-15C7-6BFA-98904A03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Encoding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96214-412B-0268-8F20-262E06AFD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325" y="2100943"/>
            <a:ext cx="7958427" cy="3520281"/>
          </a:xfrm>
        </p:spPr>
      </p:pic>
    </p:spTree>
    <p:extLst>
      <p:ext uri="{BB962C8B-B14F-4D97-AF65-F5344CB8AC3E}">
        <p14:creationId xmlns:p14="http://schemas.microsoft.com/office/powerpoint/2010/main" val="3293272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9F82-8EF1-10BE-961F-9C20E75E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9CA31-35FA-F155-97E6-F0805D4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each category’s index number into a vector of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0s and one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vector has N elements, where N = number of categories.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element = 1 → represents the active category.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one-hot vector, not the word or index, is used by the model.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a unique weight for each category.</a:t>
            </a:r>
          </a:p>
        </p:txBody>
      </p:sp>
    </p:spTree>
    <p:extLst>
      <p:ext uri="{BB962C8B-B14F-4D97-AF65-F5344CB8AC3E}">
        <p14:creationId xmlns:p14="http://schemas.microsoft.com/office/powerpoint/2010/main" val="2418463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B87C-5BB9-9C0C-A427-0001B00B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1D653C-A08E-B569-76BA-E06C2155D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4797792"/>
              </p:ext>
            </p:extLst>
          </p:nvPr>
        </p:nvGraphicFramePr>
        <p:xfrm>
          <a:off x="777304" y="2157094"/>
          <a:ext cx="8397430" cy="3888425"/>
        </p:xfrm>
        <a:graphic>
          <a:graphicData uri="http://schemas.openxmlformats.org/drawingml/2006/table">
            <a:tbl>
              <a:tblPr/>
              <a:tblGrid>
                <a:gridCol w="1679486">
                  <a:extLst>
                    <a:ext uri="{9D8B030D-6E8A-4147-A177-3AD203B41FA5}">
                      <a16:colId xmlns:a16="http://schemas.microsoft.com/office/drawing/2014/main" val="1241070013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649911331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714867316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445940612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2781118896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769073884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188487790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805830338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3153878234"/>
                    </a:ext>
                  </a:extLst>
                </a:gridCol>
              </a:tblGrid>
              <a:tr h="552863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Feature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Red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Orange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Blue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Yellow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Green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Black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Purple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Brown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94263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"Red"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92234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"Orange"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54038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"Blue"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30205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"Yellow"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981774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"Green"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991410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"Black"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556320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"Purple"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692068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"Brown"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869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997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576E-22BE-B68D-56A7-D486473A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BED66C-9725-0CC5-EE65-EF427FFC8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140" y="2160588"/>
            <a:ext cx="8467757" cy="3881437"/>
          </a:xfrm>
        </p:spPr>
      </p:pic>
    </p:spTree>
    <p:extLst>
      <p:ext uri="{BB962C8B-B14F-4D97-AF65-F5344CB8AC3E}">
        <p14:creationId xmlns:p14="http://schemas.microsoft.com/office/powerpoint/2010/main" val="944216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06C4-BF46-15B8-B6BE-E8B12D74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9278D-F06A-CA41-B64A-20953BCB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just a short way to store that same one-hot vector.	    	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keeping all zeros and ones, we just save the position of the 1. 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0, 1, 0, 0, 0, 0, 0]` becomes `2` (because the 1 is in position 2).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storage efficiency, not for training.		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still trains using the full one-hot vector, not the short form.</a:t>
            </a:r>
          </a:p>
        </p:txBody>
      </p:sp>
    </p:spTree>
    <p:extLst>
      <p:ext uri="{BB962C8B-B14F-4D97-AF65-F5344CB8AC3E}">
        <p14:creationId xmlns:p14="http://schemas.microsoft.com/office/powerpoint/2010/main" val="834373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8D4F-907B-808B-1915-FFF64085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High-Dimensional Categorical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0AC29B-168E-AC35-B024-7785CFAD4B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649975"/>
              </p:ext>
            </p:extLst>
          </p:nvPr>
        </p:nvGraphicFramePr>
        <p:xfrm>
          <a:off x="677334" y="2259443"/>
          <a:ext cx="8596311" cy="14630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103143022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12961282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237700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# of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26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Words in 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 500,000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“happy”, “walking”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6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 Postal Codes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 42,000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“02114”, “90301”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55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Last Names (Germany)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≈ 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“Schmidt”, “Schneider”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31164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AC9D4E4-44F3-4999-EE82-7BC12059B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4250493"/>
            <a:ext cx="89976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normalizeH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 much memory and slows down training.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One-hot encoding becomes too large and inefficient.</a:t>
            </a:r>
          </a:p>
        </p:txBody>
      </p:sp>
    </p:spTree>
    <p:extLst>
      <p:ext uri="{BB962C8B-B14F-4D97-AF65-F5344CB8AC3E}">
        <p14:creationId xmlns:p14="http://schemas.microsoft.com/office/powerpoint/2010/main" val="1425034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83C5-7FDC-3E40-FA85-A56B37D9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EEEF2-64D7-8EE2-5B21-B122CE494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categories into low-dimensional numeric vectors.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size and speed up training/prediction.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accurate for large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105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B8D1-73D2-D8CC-5796-E3347D41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2629"/>
          </a:xfrm>
        </p:spPr>
        <p:txBody>
          <a:bodyPr/>
          <a:lstStyle/>
          <a:p>
            <a:r>
              <a:rPr lang="en-US" dirty="0"/>
              <a:t>Feature Crosses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A83F2-F038-C3E6-FE6C-D952FD0D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4115"/>
            <a:ext cx="8596668" cy="414724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two or more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or bucketed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relationships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interactions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edges: smooth, toothed, lobed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arrangement: opposite, alternate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Crossed features: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Smooth_Opposite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Smooth_Alternate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Toothed_Opposite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Toothed_Alternate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Lobed_Opposite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Lobed_Alternate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vector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Lobed + Alternate: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{0, 0, 0, 0, 0, 1}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patterns like species classification.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5436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B8D7-7D16-6B69-0CCB-A0B5695C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Crosses vs Polynomial Transforms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101422-5EC2-A343-86D8-6CF9F6ED6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090337"/>
              </p:ext>
            </p:extLst>
          </p:nvPr>
        </p:nvGraphicFramePr>
        <p:xfrm>
          <a:off x="677863" y="3415506"/>
          <a:ext cx="8596312" cy="13716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389112061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282259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 Crosses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Polynomial Transforms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99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</a:t>
                      </a:r>
                      <a:r>
                        <a:rPr lang="en-US" b="1"/>
                        <a:t>categorical</a:t>
                      </a:r>
                      <a:r>
                        <a:rPr lang="en-US"/>
                        <a:t>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</a:t>
                      </a:r>
                      <a:r>
                        <a:rPr lang="en-US" b="1"/>
                        <a:t>numerical</a:t>
                      </a:r>
                      <a:r>
                        <a:rPr lang="en-US"/>
                        <a:t>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579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Reveal </a:t>
                      </a:r>
                      <a:r>
                        <a:rPr lang="en-US" b="1"/>
                        <a:t>interactions</a:t>
                      </a:r>
                      <a:r>
                        <a:rPr lang="en-US"/>
                        <a:t> between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 </a:t>
                      </a:r>
                      <a:r>
                        <a:rPr lang="en-US" b="1" dirty="0"/>
                        <a:t>nonlinear</a:t>
                      </a:r>
                      <a:r>
                        <a:rPr lang="en-US" dirty="0"/>
                        <a:t> numeric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21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3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8C9B-706C-212D-46DB-D7862BA8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Crosses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07E3E-AB6E-54CE-D7A0-0F085F375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when 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know certain feature pairs affect the outcome.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unsure, neural networks can learn interactions automatically (but slower).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344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639E-249F-4168-1F8F-45C236EA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characteristics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F22D4-F1E6-4FD5-AE50-660334F0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a collection of examples.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of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Reliability of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vs. incomplete examples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Incomplete Examples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 the missing data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33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4E79-C8EB-EDD1-282C-0C25D4E2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4555-99BF-46D0-812F-6330C8A32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Labels: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Exactly match what the model predicts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choice – more accurate and meaningful.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Labels: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but not identical to the target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direct labels are missing or hard to get.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depends on how strongly correlated the proxy is with the true label.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0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9AFA-8999-001B-B7C6-32C6217F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Class-imbalanced datasets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D0D0-CBE4-82CF-5F9F-9331FCFB8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Class-Balanced Dataset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and negative examples are roughly equal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235 positive / 247 negative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Easier for models to learn both classes equally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Class-Imbalanced Dataset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appears far more often than the other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common in real-world data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 = common label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 class = rare label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169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D8F7-3C64-214D-6006-14A71CF9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0600"/>
          </a:xfrm>
        </p:spPr>
        <p:txBody>
          <a:bodyPr/>
          <a:lstStyle/>
          <a:p>
            <a:r>
              <a:rPr lang="en-US" dirty="0"/>
              <a:t>Training on Imbalanced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420E-D9C3-E12A-B110-FACE6E623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687"/>
            <a:ext cx="8596668" cy="420167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Two-Step Technique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Downsample the Majority Class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fewer majority examples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each batch includes enough minority samples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99% → downsample by 25 → 80% majority, 20% minority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Upweight the Majority Class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downsampling, multiply its loss weight (e.g., ×25)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true class frequency representation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downsampling and upweighting factors as hyperparameters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different values for the best performance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27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D661-A33E-1FE4-1489-025A16FD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Dividing the original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6BB8-62C2-F77B-A6A0-96B0F95E2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one set, test on a different set → proves real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3 parts: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– model learns patterns.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– tune &amp; test during training.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– final check on unseen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duplicates between sets.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sets representative &amp; large enough.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reuse validation/test sets too often → collect fresh data if possible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6DD229-E29B-4724-F981-DD12530A8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one set,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 → proves real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486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7E2-D107-E3B2-CD67-07E967B11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Dividing the original dataset</a:t>
            </a:r>
            <a:endParaRPr lang="en-US" dirty="0"/>
          </a:p>
        </p:txBody>
      </p:sp>
      <p:pic>
        <p:nvPicPr>
          <p:cNvPr id="4" name="Picture 3" descr="Figure 9. A horizontal bar divided into three pieces: 70% of which&#10;            is the training set, 15% the validation set, and 15%&#10;            the test set">
            <a:extLst>
              <a:ext uri="{FF2B5EF4-FFF2-40B4-BE49-F238E27FC236}">
                <a16:creationId xmlns:a16="http://schemas.microsoft.com/office/drawing/2014/main" id="{5214C628-CA99-F797-2646-642689E9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952750"/>
            <a:ext cx="89439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4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A06C-8828-7212-1B34-F050F499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Overfitting, Underfitting &amp; Generalization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F8FA-FCEC-28D0-EFA3-5171172A7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Overfitting: Model memorizes training data → fails on new data.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product that works in the lab but fails in real life.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Underfitting: Model performs poorly even on training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complex enough to learn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Fit: Performs well on both training and new data → generalizes.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31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7650-E829-6FD1-D14A-A6E5CF2E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Overfitting, Underfitting &amp; Generalization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6877B-1940-9E20-A7F4-E68987BE8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9055" y="1415143"/>
            <a:ext cx="5934484" cy="5009026"/>
          </a:xfrm>
        </p:spPr>
      </p:pic>
    </p:spTree>
    <p:extLst>
      <p:ext uri="{BB962C8B-B14F-4D97-AF65-F5344CB8AC3E}">
        <p14:creationId xmlns:p14="http://schemas.microsoft.com/office/powerpoint/2010/main" val="35366519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88AB-55EA-684A-54A3-59EDCB65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Detecting Overfitting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A41C-AB7D-798C-4C7E-D559A730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loss / generalization curves: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↓ while validation loss ↑ → overfitting.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losses similar → good generalization.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Causes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not representative of real-world data.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too complex for the dataset size or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Generalize Well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(examples don’t affect each other).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(distribution stable over time).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across training, validation, and test sets.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54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161D-9D75-B500-1A48-C32115C3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Detecting Overfitting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8296E-B400-AB03-673F-7FB973191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71" y="2160588"/>
            <a:ext cx="7920495" cy="3881437"/>
          </a:xfrm>
        </p:spPr>
      </p:pic>
    </p:spTree>
    <p:extLst>
      <p:ext uri="{BB962C8B-B14F-4D97-AF65-F5344CB8AC3E}">
        <p14:creationId xmlns:p14="http://schemas.microsoft.com/office/powerpoint/2010/main" val="3096326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E990-4614-CFB3-A66C-0D1B1836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Complexity &amp;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B02E-1BE4-35B2-7883-20793C3FC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great on training data, poor on new data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may perform better on test data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goals: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data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model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penalizing complexity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training → prevents overfitting.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339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CF7EF-9CAB-A840-7BEB-C28BD3AA0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w₁² + w₂² + … + wₙ²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weights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encourages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large weight (e.g., w₃ = 5.0) can dominate total complexity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L2 encourages weights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 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exactly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9E947-CADD-F11E-BCD6-DCBF225C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L2 regularization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471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1112-8A8E-0367-5BCF-35F350AF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Regularization Rate (</a:t>
            </a:r>
            <a:r>
              <a:rPr lang="el-GR" b="1" dirty="0"/>
              <a:t>λ)</a:t>
            </a:r>
            <a:br>
              <a:rPr lang="el-GR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7DD3-2A74-2AB2-3861-E1B129A82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minimizes: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+ (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×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λ:</a:t>
            </a:r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penalty → smaller weights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overfitting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histogram: narrow, centered near 0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λ:</a:t>
            </a:r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penalty → more flexibility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 of overfitting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Histogram: wider spread</a:t>
            </a:r>
          </a:p>
          <a:p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= 0: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regularization → highest overfitting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1303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92EEE6-5A70-C455-CDFE-280A86D64DF5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3290712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2592</TotalTime>
  <Words>2189</Words>
  <Application>Microsoft Office PowerPoint</Application>
  <PresentationFormat>Widescreen</PresentationFormat>
  <Paragraphs>405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Cambria Math</vt:lpstr>
      <vt:lpstr>Courier New</vt:lpstr>
      <vt:lpstr>Roboto</vt:lpstr>
      <vt:lpstr>Times New Roman</vt:lpstr>
      <vt:lpstr>Trebuchet MS</vt:lpstr>
      <vt:lpstr>Wingdings</vt:lpstr>
      <vt:lpstr>Wingdings 3</vt:lpstr>
      <vt:lpstr>Facet</vt:lpstr>
      <vt:lpstr>Data </vt:lpstr>
      <vt:lpstr>Type of data    </vt:lpstr>
      <vt:lpstr>Work with numerical Data   </vt:lpstr>
      <vt:lpstr>How the model ingest the model </vt:lpstr>
      <vt:lpstr>Feature engineering</vt:lpstr>
      <vt:lpstr>Recommendation   </vt:lpstr>
      <vt:lpstr>Normalization</vt:lpstr>
      <vt:lpstr>Normalization</vt:lpstr>
      <vt:lpstr>Normalization methods</vt:lpstr>
      <vt:lpstr>Linear scaling </vt:lpstr>
      <vt:lpstr>Z-score Scaling</vt:lpstr>
      <vt:lpstr>Z-score scaling.</vt:lpstr>
      <vt:lpstr>Z-score scaling.</vt:lpstr>
      <vt:lpstr>Log Scaling</vt:lpstr>
      <vt:lpstr>Log Scaling</vt:lpstr>
      <vt:lpstr>Log Scaling</vt:lpstr>
      <vt:lpstr>Clipping </vt:lpstr>
      <vt:lpstr>Clipping </vt:lpstr>
      <vt:lpstr>Binning (Bucketing)</vt:lpstr>
      <vt:lpstr>Binning (Bucketing)</vt:lpstr>
      <vt:lpstr>Types of Binning</vt:lpstr>
      <vt:lpstr>Scrubbing</vt:lpstr>
      <vt:lpstr>Polynomial transforms</vt:lpstr>
      <vt:lpstr>Polynomial transforms</vt:lpstr>
      <vt:lpstr>Work with categorical Data   </vt:lpstr>
      <vt:lpstr>Encoding Categorical Data </vt:lpstr>
      <vt:lpstr>Categorical Feature Dimensions</vt:lpstr>
      <vt:lpstr>Vocabulary Encoding</vt:lpstr>
      <vt:lpstr>One-Hot Encoding</vt:lpstr>
      <vt:lpstr>One-Hot Encoding</vt:lpstr>
      <vt:lpstr>One-Hot Encoding</vt:lpstr>
      <vt:lpstr>Sparse representation</vt:lpstr>
      <vt:lpstr>High-Dimensional Categorical Features</vt:lpstr>
      <vt:lpstr>Solutions</vt:lpstr>
      <vt:lpstr>Feature Crosses</vt:lpstr>
      <vt:lpstr>Feature Crosses vs Polynomial Transforms</vt:lpstr>
      <vt:lpstr>Feature Crosses</vt:lpstr>
      <vt:lpstr>Data characteristics</vt:lpstr>
      <vt:lpstr>Labels</vt:lpstr>
      <vt:lpstr> Class-imbalanced datasets</vt:lpstr>
      <vt:lpstr>Training on Imbalanced Data</vt:lpstr>
      <vt:lpstr>Dividing the original dataset</vt:lpstr>
      <vt:lpstr>Dividing the original dataset</vt:lpstr>
      <vt:lpstr>Overfitting, Underfitting &amp; Generalization </vt:lpstr>
      <vt:lpstr>Overfitting, Underfitting &amp; Generalization </vt:lpstr>
      <vt:lpstr>Detecting Overfitting </vt:lpstr>
      <vt:lpstr>Detecting Overfitting </vt:lpstr>
      <vt:lpstr>Model Complexity &amp; Regularization</vt:lpstr>
      <vt:lpstr>L2 regularization</vt:lpstr>
      <vt:lpstr>Regularization Rate (λ)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9</cp:revision>
  <dcterms:created xsi:type="dcterms:W3CDTF">2025-11-05T06:41:57Z</dcterms:created>
  <dcterms:modified xsi:type="dcterms:W3CDTF">2025-11-12T08:35:06Z</dcterms:modified>
</cp:coreProperties>
</file>